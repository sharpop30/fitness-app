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59e23896f74963" /><Relationship Type="http://schemas.openxmlformats.org/officeDocument/2006/relationships/extended-properties" Target="/docProps/app.xml" Id="Rb557abfc791445a6" /><Relationship Type="http://schemas.openxmlformats.org/officeDocument/2006/relationships/officeDocument" Target="/ppt/presentation.xml" Id="R9c2ba9bcca4d480a" /></Relationships>
</file>

<file path=ppt/presentation.xml><?xml version="1.0" encoding="utf-8"?>
<p:presentation xmlns:p="http://schemas.openxmlformats.org/presentationml/2006/main">
  <p:sldMasterIdLst>
    <p:sldMasterId xmlns:r="http://schemas.openxmlformats.org/officeDocument/2006/relationships" id="2147483648" r:id="R9f646157bd9f4e38"/>
  </p:sldMasterIdLst>
  <p:notesMasterIdLst>
    <p:notesMasterId xmlns:r="http://schemas.openxmlformats.org/officeDocument/2006/relationships" r:id="R85f357a7e87047da"/>
  </p:notesMasterIdLst>
  <p:sldIdLst>
    <p:sldId xmlns:r="http://schemas.openxmlformats.org/officeDocument/2006/relationships" id="256" r:id="R1782af8002b54a4f"/>
    <p:sldId xmlns:r="http://schemas.openxmlformats.org/officeDocument/2006/relationships" id="257" r:id="Rf58686036c5b4fe9"/>
    <p:sldId xmlns:r="http://schemas.openxmlformats.org/officeDocument/2006/relationships" id="258" r:id="R62319ed9a35d424e"/>
    <p:sldId xmlns:r="http://schemas.openxmlformats.org/officeDocument/2006/relationships" id="259" r:id="R54354a680a0440fb"/>
    <p:sldId xmlns:r="http://schemas.openxmlformats.org/officeDocument/2006/relationships" id="260" r:id="R1405da751a24450b"/>
    <p:sldId xmlns:r="http://schemas.openxmlformats.org/officeDocument/2006/relationships" id="261" r:id="Rf223be6300bd4ec4"/>
    <p:sldId xmlns:r="http://schemas.openxmlformats.org/officeDocument/2006/relationships" id="262" r:id="Rd9ad13558afa4053"/>
    <p:sldId xmlns:r="http://schemas.openxmlformats.org/officeDocument/2006/relationships" id="263" r:id="R45e3862e09ec41d9"/>
    <p:sldId xmlns:r="http://schemas.openxmlformats.org/officeDocument/2006/relationships" id="264" r:id="Rb4da19baa48a48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0f117829ea4325" /><Relationship Type="http://schemas.openxmlformats.org/officeDocument/2006/relationships/slideMaster" Target="/ppt/slideMasters/slideMaster1.xml" Id="R9f646157bd9f4e38" /><Relationship Type="http://schemas.openxmlformats.org/officeDocument/2006/relationships/notesMaster" Target="/ppt/notesMasters/notesMaster1.xml" Id="R85f357a7e87047da" /><Relationship Type="http://schemas.openxmlformats.org/officeDocument/2006/relationships/presProps" Target="/ppt/presProps.xml" Id="R5d1803a825014619" /><Relationship Type="http://schemas.openxmlformats.org/officeDocument/2006/relationships/tableStyles" Target="/ppt/tableStyles.xml" Id="Ra7227722860a4aca" /><Relationship Type="http://schemas.openxmlformats.org/officeDocument/2006/relationships/slide" Target="/ppt/slides/slide1.xml" Id="R1782af8002b54a4f" /><Relationship Type="http://schemas.openxmlformats.org/officeDocument/2006/relationships/slide" Target="/ppt/slides/slide2.xml" Id="Rf58686036c5b4fe9" /><Relationship Type="http://schemas.openxmlformats.org/officeDocument/2006/relationships/slide" Target="/ppt/slides/slide3.xml" Id="R62319ed9a35d424e" /><Relationship Type="http://schemas.openxmlformats.org/officeDocument/2006/relationships/slide" Target="/ppt/slides/slide4.xml" Id="R54354a680a0440fb" /><Relationship Type="http://schemas.openxmlformats.org/officeDocument/2006/relationships/slide" Target="/ppt/slides/slide5.xml" Id="R1405da751a24450b" /><Relationship Type="http://schemas.openxmlformats.org/officeDocument/2006/relationships/slide" Target="/ppt/slides/slide6.xml" Id="Rf223be6300bd4ec4" /><Relationship Type="http://schemas.openxmlformats.org/officeDocument/2006/relationships/slide" Target="/ppt/slides/slide7.xml" Id="Rd9ad13558afa4053" /><Relationship Type="http://schemas.openxmlformats.org/officeDocument/2006/relationships/slide" Target="/ppt/slides/slide8.xml" Id="R45e3862e09ec41d9" /><Relationship Type="http://schemas.openxmlformats.org/officeDocument/2006/relationships/slide" Target="/ppt/slides/slide9.xml" Id="Rb4da19baa48a48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515e9a9c1c4f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67cdce04364843" /><Relationship Type="http://schemas.openxmlformats.org/officeDocument/2006/relationships/notesMaster" Target="/ppt/notesMasters/notesMaster1.xml" Id="Rcbf52368c54645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725bdff467434e" /><Relationship Type="http://schemas.openxmlformats.org/officeDocument/2006/relationships/notesMaster" Target="/ppt/notesMasters/notesMaster1.xml" Id="R3aff44954ea646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8ddf7585b7438e" /><Relationship Type="http://schemas.openxmlformats.org/officeDocument/2006/relationships/notesMaster" Target="/ppt/notesMasters/notesMaster1.xml" Id="R641b959b73364f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50ce7847564285" /><Relationship Type="http://schemas.openxmlformats.org/officeDocument/2006/relationships/notesMaster" Target="/ppt/notesMasters/notesMaster1.xml" Id="Rf02b0d242d8a47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996f62d05c44e7" /><Relationship Type="http://schemas.openxmlformats.org/officeDocument/2006/relationships/notesMaster" Target="/ppt/notesMasters/notesMaster1.xml" Id="R5d4e57dcc9464e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d7213f118841ea" /><Relationship Type="http://schemas.openxmlformats.org/officeDocument/2006/relationships/notesMaster" Target="/ppt/notesMasters/notesMaster1.xml" Id="R4bbdf57deda84e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4c2115fcb24130" /><Relationship Type="http://schemas.openxmlformats.org/officeDocument/2006/relationships/notesMaster" Target="/ppt/notesMasters/notesMaster1.xml" Id="R366829b9928f46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8746d69d154e60" /><Relationship Type="http://schemas.openxmlformats.org/officeDocument/2006/relationships/notesMaster" Target="/ppt/notesMasters/notesMaster1.xml" Id="R1232c34fc1a44a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d00e3ca1914de7" /><Relationship Type="http://schemas.openxmlformats.org/officeDocument/2006/relationships/notesMaster" Target="/ppt/notesMasters/notesMaster1.xml" Id="R61fc2db071b4481b"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0:00 עד 0:30</a:t>
            </a:r>
          </a:p>
          <a:p>
            <a:pPr rtl="0" algn="r"/>
          </a:p>
          <a:p>
            <a:pPr rtl="1" algn="r"/>
            <a:r>
              <a:rPr lang="he-IL"/>
              <a:t xml:space="preserve">כשמתאמן לא מרגיש שרואים אותו ושהוא חלק מקהילה, קשה לו להתמיד. מטרת האפליקציה היא לחזק מוטיבציה פנימית באמצעות יחס אישי, חיבור לקהילה ותגמולים שמבטאים הכרה בהשקעה ובהתמדה לאורך זמן. היום אדגים את הבסיס לקשר האישי: המאמן מתאים תוכנית, המתאמן מדווח והמאמן עוקב. ההדגמה משתמשת בנתוני דוגמה. ההשפעה על ההתמדה עדיין לא נמדדה.</a:t>
            </a:r>
          </a:p>
          <a:p>
            <a:pPr rtl="0" algn="r"/>
          </a:p>
          <a:p>
            <a:pPr rtl="1" algn="r"/>
            <a:r>
              <a:rPr lang="he-IL"/>
              <a:t xml:space="preserve">הפעלה ותזמון:</a:t>
            </a:r>
          </a:p>
          <a:p>
            <a:pPr rtl="1" algn="r"/>
            <a:r>
              <a:rPr lang="he-IL"/>
              <a:t xml:space="preserve">להציג את הבעיה ואת מטרת המוצר במשך כחצי דקה. לאחר מכן לעבור למפת הרכיבים. הקהילה והתגמולים הם חלק ממטרת המוצר, וההדגמה מתמקדת ברצף המאמן והמתאמן.</a:t>
            </a:r>
          </a:p>
          <a:p>
            <a:pPr rtl="0" algn="r"/>
          </a:p>
          <a:p>
            <a:pPr rtl="1" algn="r"/>
            <a:r>
              <a:rPr lang="he-IL"/>
              <a:t xml:space="preserve">מקורות:</a:t>
            </a:r>
          </a:p>
          <a:p>
            <a:pPr rtl="0" algn="r"/>
            <a:r>
              <a:rPr lang="en-US"/>
              <a:t xml:space="preserve">https://github.com/Sharpop30/fitness-app/blob/main/project-docs/doc-project-definition.md</a:t>
            </a:r>
          </a:p>
          <a:p>
            <a:pPr rtl="0" algn="r"/>
            <a:r>
              <a:rPr lang="en-US"/>
              <a:t xml:space="preserve">https://github.com/Sharpop30/fitness-app/blob/main/project-docs/doc-okr-kpi.md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0:30 עד 1:30</a:t>
            </a:r>
          </a:p>
          <a:p>
            <a:pPr rtl="0" algn="r"/>
          </a:p>
          <a:p>
            <a:pPr rtl="1" algn="r"/>
            <a:r>
              <a:rPr lang="he-IL"/>
              <a:t xml:space="preserve">המערכת בנויה מקוד רגיל: ממשק משתמש בעברית, נקודת כניסה אחת לשרת ומסד נתונים. במפה מוגדרים ארבעה עשר מודולים עסקיים. האוטומציה היא חלק מהקוד: אחרי שמירת אימון נשלחות בקשות למשוב, למטבעות ולאתגר. אין כאן סוכן </a:t>
            </a:r>
            <a:r>
              <a:rPr lang="en-US"/>
              <a:t xml:space="preserve">AI</a:t>
            </a:r>
            <a:r>
              <a:rPr lang="he-IL"/>
              <a:t xml:space="preserve"> ואין צורך במודל שיחליט כמה מטבעות מגיעים על פעולה מוגדרת. יש ממשקים לזהות, למסד ולאחסון, וממשקי הזמנות וסליקה שעדיין דורשים השלמה או פועלים בהדגמה. עדכון ה-</a:t>
            </a:r>
            <a:r>
              <a:rPr lang="en-US"/>
              <a:t xml:space="preserve">PRD</a:t>
            </a:r>
            <a:r>
              <a:rPr lang="he-IL"/>
              <a:t xml:space="preserve"> נעשה בריצה בצ׳אט ונרשם ביומן. הוא אינו אוטומציה עצמאית. ההפרדה למודולים מאפשרת להחליף בעתיד את מימוש המשוב בלי לשנות את מסכי המשתמש.</a:t>
            </a:r>
          </a:p>
          <a:p>
            <a:pPr rtl="0" algn="r"/>
          </a:p>
          <a:p>
            <a:pPr rtl="1" algn="r"/>
            <a:r>
              <a:rPr lang="he-IL"/>
              <a:t xml:space="preserve">הפעלה ותזמון:</a:t>
            </a:r>
          </a:p>
          <a:p>
            <a:pPr rtl="1" algn="r"/>
            <a:r>
              <a:rPr lang="he-IL"/>
              <a:t xml:space="preserve">להצביע על ארבע השורות לפי הסדר. לא להציג את רשימת 14 המודולים בעל פה.</a:t>
            </a:r>
          </a:p>
          <a:p>
            <a:pPr rtl="0" algn="r"/>
          </a:p>
          <a:p>
            <a:pPr rtl="1" algn="r"/>
            <a:r>
              <a:rPr lang="he-IL"/>
              <a:t xml:space="preserve">מקורות:</a:t>
            </a:r>
          </a:p>
          <a:p>
            <a:pPr rtl="0" algn="r"/>
            <a:r>
              <a:rPr lang="en-US"/>
              <a:t xml:space="preserve">https://github.com/Sharpop30/fitness-app/blob/main/project-docs/doc-module-map.md</a:t>
            </a:r>
          </a:p>
          <a:p>
            <a:pPr rtl="0" algn="r"/>
            <a:r>
              <a:rPr lang="en-US"/>
              <a:t xml:space="preserve">https://github.com/Sharpop30/fitness-app/blob/main/CLAUDE.md</a:t>
            </a:r>
          </a:p>
          <a:p>
            <a:pPr rtl="0" algn="r"/>
            <a:r>
              <a:rPr lang="en-US"/>
              <a:t xml:space="preserve">https://github.com/Sharpop30/fitness-app/blob/main/app/src/api/client.ts</a:t>
            </a:r>
          </a:p>
          <a:p>
            <a:pPr rtl="0" algn="r"/>
            <a:r>
              <a:rPr lang="en-US"/>
              <a:t xml:space="preserve">https://github.com/Sharpop30/fitness-app/blob/main/supabase/functions/api/modules/results.ts</a:t>
            </a:r>
          </a:p>
          <a:p>
            <a:pPr rtl="0" algn="r"/>
            <a:r>
              <a:rPr lang="en-US"/>
              <a:t xml:space="preserve">https://github.com/Sharpop30/fitness-app/blob/main/project-docs/prd-fitness-app.docx</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1:30 עד 2:00</a:t>
            </a:r>
          </a:p>
          <a:p>
            <a:pPr rtl="0" algn="r"/>
          </a:p>
          <a:p>
            <a:pPr rtl="1" algn="r"/>
            <a:r>
              <a:rPr lang="he-IL"/>
              <a:t xml:space="preserve">התיעוד נמצא במאגר, והקישור למסמך הדרישות מופיע כאן. המאמן מחליט על התוכנית ועל היעדים. הצוות מאשר שינויי היקף ויציאה לייצור. מפתח השירות נמצא בסביבת השרת בלבד. המפתח הציבורי בדפדפן מיועד לזהות. בזמן שימוש באפליקציה אין קריאה לספק </a:t>
            </a:r>
            <a:r>
              <a:rPr lang="en-US"/>
              <a:t xml:space="preserve">AI.</a:t>
            </a:r>
            <a:r>
              <a:rPr lang="he-IL"/>
              <a:t xml:space="preserve"> שימוש בכלי </a:t>
            </a:r>
            <a:r>
              <a:rPr lang="en-US"/>
              <a:t xml:space="preserve">AI</a:t>
            </a:r>
            <a:r>
              <a:rPr lang="he-IL"/>
              <a:t xml:space="preserve"> לפיתוח הוא תהליך נפרד, ולא טענה שמידע מעולם לא שותף בו.</a:t>
            </a:r>
          </a:p>
          <a:p>
            <a:pPr rtl="0" algn="r"/>
          </a:p>
          <a:p>
            <a:pPr rtl="1" algn="r"/>
            <a:r>
              <a:rPr lang="he-IL"/>
              <a:t xml:space="preserve">הפעלה ותזמון:</a:t>
            </a:r>
          </a:p>
          <a:p>
            <a:pPr rtl="1" algn="r"/>
            <a:r>
              <a:rPr lang="he-IL"/>
              <a:t xml:space="preserve">להראות את הקישור ל-</a:t>
            </a:r>
            <a:r>
              <a:rPr lang="en-US"/>
              <a:t xml:space="preserve">PRD.</a:t>
            </a:r>
            <a:r>
              <a:rPr lang="he-IL"/>
              <a:t xml:space="preserve"> פרטי הרשאות ורישום זמינים בנספחים לשאלות.</a:t>
            </a:r>
          </a:p>
          <a:p>
            <a:pPr rtl="0" algn="r"/>
          </a:p>
          <a:p>
            <a:pPr rtl="1" algn="r"/>
            <a:r>
              <a:rPr lang="he-IL"/>
              <a:t xml:space="preserve">מקורות:</a:t>
            </a:r>
          </a:p>
          <a:p>
            <a:pPr rtl="0" algn="r"/>
            <a:r>
              <a:rPr lang="en-US"/>
              <a:t xml:space="preserve">https://github.com/Sharpop30/fitness-app/blob/main/CLAUDE.md</a:t>
            </a:r>
          </a:p>
          <a:p>
            <a:pPr rtl="0" algn="r"/>
            <a:r>
              <a:rPr lang="en-US"/>
              <a:t xml:space="preserve">https://github.com/Sharpop30/fitness-app/blob/main/project-docs/doc-module-map.md</a:t>
            </a:r>
          </a:p>
          <a:p>
            <a:pPr rtl="0" algn="r"/>
            <a:r>
              <a:rPr lang="en-US"/>
              <a:t xml:space="preserve">https://github.com/Sharpop30/fitness-app/blob/main/project-docs/doc-stage-4b-plan.md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2:00 עד 5:00</a:t>
            </a:r>
          </a:p>
          <a:p>
            <a:pPr rtl="0" algn="r"/>
          </a:p>
          <a:p>
            <a:pPr rtl="1" algn="r"/>
            <a:r>
              <a:rPr lang="he-IL"/>
              <a:t xml:space="preserve">עכשיו נלווה את נועה, מתאמנת לדוגמה. אני נכנס כמאמן, פותח את התוכנית שלה ומחליף תרגיל. היעדים נשארים גלויים: סטים, חזרות ומשקל. אחרי השמירה אני מחליף תפקיד למתאמנת, באותה לשונית. היא רואה את התוכנית המעודכנת, פותחת אימון ומשנה רק את מה שביצעה אחרת. קודם נכניס בכוונה מספר חזרות שלילי. המערכת עוצרת את השמירה ומציגה: יש ערך לא תקין באחד הסטים. נתקן את הערך ונשמור. כעת מתקבל סיכום האימון ומשוב מבוסס כללים. לבסוף נחזור למאמן ונראה את האימון שנוסף. כך נסגר הרצף: תוכנית, ביצוע, דיווח ובקרה. כל הרצף הזה מוצג במצב הדגמה מקומי. הוא אינו הוכחה לכך שכל מסכי המוצר מחוברים כבר לענן. חיבור כניסת המתאמן לשירות הזהות עדיין ממתין.</a:t>
            </a:r>
          </a:p>
          <a:p>
            <a:pPr rtl="0" algn="r"/>
          </a:p>
          <a:p>
            <a:pPr rtl="1" algn="r"/>
            <a:r>
              <a:rPr lang="he-IL"/>
              <a:t xml:space="preserve">הפעלה ותזמון:</a:t>
            </a:r>
          </a:p>
          <a:p>
            <a:pPr rtl="1" algn="r"/>
            <a:r>
              <a:rPr lang="he-IL"/>
              <a:t xml:space="preserve">2:00 עד 2:50: מאמן (דוגמה) ← מתאמנים ← נועה (דוגמה) ← תוכנית אימון ← החלפה ראשונה ← לחיצת כתפיים ← משקל 12.5 ← שמירת היעד ← שמירה.</a:t>
            </a:r>
          </a:p>
          <a:p>
            <a:pPr rtl="1" algn="r"/>
            <a:r>
              <a:rPr lang="he-IL"/>
              <a:t xml:space="preserve">2:50 עד 4:20: עוד ← יציאה ← מתאמן (דוגמה) ← אימון ← אימון </a:t>
            </a:r>
            <a:r>
              <a:rPr lang="en-US"/>
              <a:t xml:space="preserve">A.</a:t>
            </a:r>
            <a:r>
              <a:rPr lang="he-IL"/>
              <a:t xml:space="preserve"> להכניס -1 בחזרות הראשונות, לשמור ולהצביע על השגיאה. לתקן ל-10 ולשמור.</a:t>
            </a:r>
          </a:p>
          <a:p>
            <a:pPr rtl="1" algn="r"/>
            <a:r>
              <a:rPr lang="he-IL"/>
              <a:t xml:space="preserve">4:20 עד 5:00: אני ← יציאה ← מאמן (דוגמה) ← מתאמנים ← נועה (דוגמה) ← אימונים שבוצעו והערות.</a:t>
            </a:r>
          </a:p>
          <a:p>
            <a:pPr rtl="1" algn="r"/>
            <a:r>
              <a:rPr lang="he-IL"/>
              <a:t xml:space="preserve">חשוב: לעבור תפקיד באותה לשונית בלי רענון, כדי לשמור את מצב ההדגמה בזיכרון. אם יש תקלה: לעבור מיד לסרטון הגיבוי המצורף ולספר את אותו הסיפור. לא לבזבז זמן על תיקון בזמן ההצגה.</a:t>
            </a:r>
          </a:p>
          <a:p>
            <a:pPr rtl="0" algn="r"/>
          </a:p>
          <a:p>
            <a:pPr rtl="1" algn="r"/>
            <a:r>
              <a:rPr lang="he-IL"/>
              <a:t xml:space="preserve">מקורות:</a:t>
            </a:r>
          </a:p>
          <a:p>
            <a:pPr rtl="0" algn="r"/>
            <a:r>
              <a:rPr lang="en-US"/>
              <a:t xml:space="preserve">https://github.com/Sharpop30/fitness-app/blob/main/app/src/screens/S04ProgramBuilder.tsx</a:t>
            </a:r>
          </a:p>
          <a:p>
            <a:pPr rtl="0" algn="r"/>
            <a:r>
              <a:rPr lang="en-US"/>
              <a:t xml:space="preserve">https://github.com/Sharpop30/fitness-app/blob/main/app/src/screens/S14Workout.tsx</a:t>
            </a:r>
          </a:p>
          <a:p>
            <a:pPr rtl="0" algn="r"/>
            <a:r>
              <a:rPr lang="en-US"/>
              <a:t xml:space="preserve">https://github.com/Sharpop30/fitness-app/blob/main/app/src/screens/S15Feedback.tsx</a:t>
            </a:r>
          </a:p>
          <a:p>
            <a:pPr rtl="0" algn="r"/>
            <a:r>
              <a:rPr lang="en-US"/>
              <a:t xml:space="preserve">https://github.com/Sharpop30/fitness-app/blob/main/app/src/screens/S06WorkoutsAndNotes.tsx</a:t>
            </a:r>
          </a:p>
          <a:p>
            <a:pPr rtl="0" algn="r"/>
            <a:r>
              <a:rPr lang="en-US"/>
              <a:t xml:space="preserve">https://github.com/Sharpop30/fitness-app/blob/main/app/src/demo/adapter.ts</a:t>
            </a:r>
          </a:p>
          <a:p>
            <a:pPr rtl="0" algn="r"/>
            <a:r>
              <a:rPr lang="en-US"/>
              <a:t xml:space="preserve">https://github.com/Sharpop30/fitness-app/blob/main/project-docs/doc-stage-4b-plan.md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5:00 עד 6:00</a:t>
            </a:r>
          </a:p>
          <a:p>
            <a:pPr rtl="0" algn="r"/>
          </a:p>
          <a:p>
            <a:pPr rtl="1" algn="r"/>
            <a:r>
              <a:rPr lang="he-IL"/>
              <a:t xml:space="preserve">יש לנו מימוש עובד של תוכניות, תרגילים ותוצאות בשרת, ודוח בדיקות מסכם לשלב ארבע א׳. בקוד המקומי נוספו גם יכולות של שלב ארבע ב׳, אבל לא מצאנו לו דוח סגירה. לכן לא אציג אותו כשלב שהושלם ואושר. כניסת מתאמן לענן, יתר הממשקים והמעבר לייצור עדיין דורשים עבודה. סליקה אמיתית אינה חלק מהגרסה הראשונה. גם אימות מול משתמשים ויעדים מספריים עדיין חסרים. לשאלת המסלול, מה קורה כשה-</a:t>
            </a:r>
            <a:r>
              <a:rPr lang="en-US"/>
              <a:t xml:space="preserve">AI</a:t>
            </a:r>
            <a:r>
              <a:rPr lang="he-IL"/>
              <a:t xml:space="preserve"> טועה: אין כרגע </a:t>
            </a:r>
            <a:r>
              <a:rPr lang="en-US"/>
              <a:t xml:space="preserve">AI</a:t>
            </a:r>
            <a:r>
              <a:rPr lang="he-IL"/>
              <a:t xml:space="preserve"> בזמן ריצה, ולכן לא אמציא אירוע כזה. הראיתי כשל אמיתי בקלט והודעה שהמשתמש רואה. אם נוסיף משוב </a:t>
            </a:r>
            <a:r>
              <a:rPr lang="en-US"/>
              <a:t xml:space="preserve">AI</a:t>
            </a:r>
            <a:r>
              <a:rPr lang="he-IL"/>
              <a:t xml:space="preserve"> בעתיד, נצטרך לסמן אותו, לאמת את המבנה ולעצור פלט חסר מקור. אלה תנאי פיתוח עתידיים.</a:t>
            </a:r>
          </a:p>
          <a:p>
            <a:pPr rtl="0" algn="r"/>
          </a:p>
          <a:p>
            <a:pPr rtl="1" algn="r"/>
            <a:r>
              <a:rPr lang="he-IL"/>
              <a:t xml:space="preserve">הפעלה ותזמון:</a:t>
            </a:r>
          </a:p>
          <a:p>
            <a:pPr rtl="1" algn="r"/>
            <a:r>
              <a:rPr lang="he-IL"/>
              <a:t xml:space="preserve">לסיים את סעיף הפערים בתוך דקה. לא לטעון שחיבור כל המסכים לענן או בדיקות ארבע ב׳ הושלמו.</a:t>
            </a:r>
          </a:p>
          <a:p>
            <a:pPr rtl="0" algn="r"/>
          </a:p>
          <a:p>
            <a:pPr rtl="1" algn="r"/>
            <a:r>
              <a:rPr lang="he-IL"/>
              <a:t xml:space="preserve">מקורות:</a:t>
            </a:r>
          </a:p>
          <a:p>
            <a:pPr rtl="0" algn="r"/>
            <a:r>
              <a:rPr lang="en-US"/>
              <a:t xml:space="preserve">https://github.com/Sharpop30/fitness-app/blob/main/project-docs/findings-stage-4a.md</a:t>
            </a:r>
          </a:p>
          <a:p>
            <a:pPr rtl="0" algn="r"/>
            <a:r>
              <a:rPr lang="en-US"/>
              <a:t xml:space="preserve">https://github.com/Sharpop30/fitness-app/blob/main/project-docs/doc-stage-4b-plan.md</a:t>
            </a:r>
          </a:p>
          <a:p>
            <a:pPr rtl="0" algn="r"/>
            <a:r>
              <a:rPr lang="en-US"/>
              <a:t xml:space="preserve">https://github.com/Sharpop30/fitness-app/blob/main/app/src/api/client.ts</a:t>
            </a:r>
          </a:p>
          <a:p>
            <a:pPr rtl="0" algn="r"/>
            <a:r>
              <a:rPr lang="en-US"/>
              <a:t xml:space="preserve">https://github.com/Sharpop30/fitness-app/blob/main/project-docs/doc-mlp-scope.md</a:t>
            </a:r>
          </a:p>
          <a:p>
            <a:pPr rtl="0" algn="r"/>
            <a:r>
              <a:rPr lang="en-US"/>
              <a:t xml:space="preserve">https://github.com/Sharpop30/fitness-app/blob/main/project-docs/doc-okr-kpi.md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6:00 עד 7:00</a:t>
            </a:r>
          </a:p>
          <a:p>
            <a:pPr rtl="0" algn="r"/>
          </a:p>
          <a:p>
            <a:pPr rtl="1" algn="r"/>
            <a:r>
              <a:rPr lang="he-IL"/>
              <a:t xml:space="preserve">היכולת הראשונה שאני מביא היא להפוך צורך עסקי לרצף עבודה שאפשר להדגים. הראיה היא המעבר מהתוכנית של המאמן לתוצאה ולבקרה. התובנה שלי היא להתחיל מתהליך אחד שלם, לפני שמוסיפים עוד מסכים. היכולת השנייה היא לבנות מערכת שאפשר להמשיך לתחזק: הדרישות, החלוקה למודולים וההרשאות כתובות. התובנה היא שתיעוד ההחלטה חשוב כמו הקוד שנכתב. היכולת השלישית היא להגדיר גבולות ולבדוק גם כשל. הראיה היא עצירת קלט לא תקין והבדיקות המתועדות. התובנה היא לבחור קוד רגיל כשהכללים ידועים, ולהכניס </a:t>
            </a:r>
            <a:r>
              <a:rPr lang="en-US"/>
              <a:t xml:space="preserve">AI</a:t>
            </a:r>
            <a:r>
              <a:rPr lang="he-IL"/>
              <a:t xml:space="preserve"> רק כשיש לו תפקיד מוצדק. בארגון חדש איישם את אותה דרך: צורך, תהליך קטן שעובד, בדיקות ומסירה.</a:t>
            </a:r>
          </a:p>
          <a:p>
            <a:pPr rtl="0" algn="r"/>
          </a:p>
          <a:p>
            <a:pPr rtl="1" algn="r"/>
            <a:r>
              <a:rPr lang="he-IL"/>
              <a:t xml:space="preserve">הפעלה ותזמון:</a:t>
            </a:r>
          </a:p>
          <a:p>
            <a:pPr rtl="1" algn="r"/>
            <a:r>
              <a:rPr lang="he-IL"/>
              <a:t xml:space="preserve">שלוש יכולות, ראיה אחת ותובנה אחת לכל יכולת. בדקה 7 לעבור לשאלות.</a:t>
            </a:r>
          </a:p>
          <a:p>
            <a:pPr rtl="0" algn="r"/>
          </a:p>
          <a:p>
            <a:pPr rtl="1" algn="r"/>
            <a:r>
              <a:rPr lang="he-IL"/>
              <a:t xml:space="preserve">מקורות:</a:t>
            </a:r>
          </a:p>
          <a:p>
            <a:pPr rtl="0" algn="r"/>
            <a:r>
              <a:rPr lang="en-US"/>
              <a:t xml:space="preserve">https://github.com/Sharpop30/fitness-app/blob/main/project-docs/findings-stage-4a.md</a:t>
            </a:r>
          </a:p>
          <a:p>
            <a:pPr rtl="0" algn="r"/>
            <a:r>
              <a:rPr lang="en-US"/>
              <a:t xml:space="preserve">https://github.com/Sharpop30/fitness-app/blob/main/project-docs/doc-module-map.md</a:t>
            </a:r>
          </a:p>
          <a:p>
            <a:pPr rtl="0" algn="r"/>
            <a:r>
              <a:rPr lang="en-US"/>
              <a:t xml:space="preserve">https://github.com/Sharpop30/fitness-app/blob/main/project-docs/doc-mlp-scope.md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7.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7:00 עד 10:00</a:t>
            </a:r>
          </a:p>
          <a:p>
            <a:pPr rtl="0" algn="r"/>
          </a:p>
          <a:p>
            <a:pPr rtl="1" algn="r"/>
            <a:r>
              <a:rPr lang="he-IL"/>
              <a:t xml:space="preserve">אשמח לשאלות על התהליך, על הגבולות ועל מה שיידרש כדי להפעיל את המערכת בארגון.</a:t>
            </a:r>
          </a:p>
          <a:p>
            <a:pPr rtl="0" algn="r"/>
          </a:p>
          <a:p>
            <a:pPr rtl="1" algn="r"/>
            <a:r>
              <a:rPr lang="he-IL"/>
              <a:t xml:space="preserve">הפעלה ותזמון:</a:t>
            </a:r>
          </a:p>
          <a:p>
            <a:pPr rtl="1" algn="r"/>
            <a:r>
              <a:rPr lang="he-IL"/>
              <a:t xml:space="preserve">עד שלושה מראיינים: משאבי אנוש, מנהל טכנולוגיה ומנכ״ל. תשובה ישירה של 30 עד 45 שניות לכל שאלה. בדקה 10 עוצרים. נספחים זמינים רק לפי צורך.</a:t>
            </a:r>
          </a:p>
          <a:p>
            <a:pPr rtl="0" algn="r"/>
          </a:p>
          <a:p>
            <a:pPr rtl="1" algn="r"/>
            <a:r>
              <a:rPr lang="he-IL"/>
              <a:t xml:space="preserve">מקורות:</a:t>
            </a:r>
          </a:p>
          <a:p>
            <a:pPr rtl="0" algn="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8.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לשאלות בלבד</a:t>
            </a:r>
          </a:p>
          <a:p>
            <a:pPr rtl="0" algn="r"/>
          </a:p>
          <a:p>
            <a:pPr rtl="1" algn="r"/>
            <a:r>
              <a:rPr lang="he-IL"/>
              <a:t xml:space="preserve">הצילום הוא מהאפליקציה המקומית במצב הדגמה. קוד השגיאה הוא </a:t>
            </a:r>
            <a:r>
              <a:rPr lang="en-US"/>
              <a:t xml:space="preserve">RESULT_INVALID.</a:t>
            </a:r>
            <a:r>
              <a:rPr lang="he-IL"/>
              <a:t xml:space="preserve"> זאת בדיקת קלט דטרמיניסטית, לא שגיאת </a:t>
            </a:r>
            <a:r>
              <a:rPr lang="en-US"/>
              <a:t xml:space="preserve">AI.</a:t>
            </a:r>
            <a:r>
              <a:rPr lang="he-IL"/>
              <a:t xml:space="preserve"> לשאלות על אבטחה: בקשות נבדקות ב-</a:t>
            </a:r>
            <a:r>
              <a:rPr lang="en-US"/>
              <a:t xml:space="preserve">Endpoint</a:t>
            </a:r>
            <a:r>
              <a:rPr lang="he-IL"/>
              <a:t xml:space="preserve"> מול </a:t>
            </a:r>
            <a:r>
              <a:rPr lang="en-US"/>
              <a:t xml:space="preserve">Registry</a:t>
            </a:r>
            <a:r>
              <a:rPr lang="he-IL"/>
              <a:t xml:space="preserve">, והגישה למסד מרוכזת ב-</a:t>
            </a:r>
            <a:r>
              <a:rPr lang="en-US"/>
              <a:t xml:space="preserve">Repository. RLS</a:t>
            </a:r>
            <a:r>
              <a:rPr lang="he-IL"/>
              <a:t xml:space="preserve"> חוסם גישה ישירה לציבור. הרשאת מפתח שירות דורשת שהשרת עצמו יאכוף היטב את ההרשאות.</a:t>
            </a:r>
          </a:p>
          <a:p>
            <a:pPr rtl="0" algn="r"/>
          </a:p>
          <a:p>
            <a:pPr rtl="1" algn="r"/>
            <a:r>
              <a:rPr lang="he-IL"/>
              <a:t xml:space="preserve">הפעלה ותזמון:</a:t>
            </a:r>
          </a:p>
          <a:p>
            <a:pPr rtl="1" algn="r"/>
            <a:r>
              <a:rPr lang="he-IL"/>
              <a:t xml:space="preserve">לפתוח רק אם נשאלים איך המשתמש יודע שמשהו נכשל.</a:t>
            </a:r>
          </a:p>
          <a:p>
            <a:pPr rtl="0" algn="r"/>
          </a:p>
          <a:p>
            <a:pPr rtl="1" algn="r"/>
            <a:r>
              <a:rPr lang="he-IL"/>
              <a:t xml:space="preserve">מקורות:</a:t>
            </a:r>
          </a:p>
          <a:p>
            <a:pPr rtl="0" algn="r"/>
            <a:r>
              <a:rPr lang="en-US"/>
              <a:t xml:space="preserve">https://github.com/Sharpop30/fitness-app/blob/main/app/src/demo/data.ts</a:t>
            </a:r>
          </a:p>
          <a:p>
            <a:pPr rtl="0" algn="r"/>
            <a:r>
              <a:rPr lang="en-US"/>
              <a:t xml:space="preserve">https://github.com/Sharpop30/fitness-app/blob/main/app/src/demo/adapter.ts</a:t>
            </a:r>
          </a:p>
          <a:p>
            <a:pPr rtl="0" algn="r"/>
            <a:r>
              <a:rPr lang="en-US"/>
              <a:t xml:space="preserve">https://github.com/Sharpop30/fitness-app/blob/main/project-docs/findings-stage-4a.md</a:t>
            </a:r>
          </a:p>
          <a:p>
            <a:pPr rtl="0" algn="r"/>
            <a:r>
              <a:rPr lang="en-US"/>
              <a:t xml:space="preserve">https://github.com/Sharpop30/fitness-app/blob/main/CLAUDE.md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notesSlides/notesSlide9.xml><?xml version="1.0" encoding="utf-8"?>
<p:notes xmlns:p="http://schemas.openxmlformats.org/presentationml/2006/main" xmlns:a="http://schemas.openxmlformats.org/drawing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defPPr rtl="1" algn="r">
              <a:defRPr lang="he-IL"/>
            </a:defPPr>
          </a:lstStyle>
          <a:p>
            <a:pPr rtl="1" algn="r"/>
            <a:r>
              <a:rPr lang="he-IL"/>
              <a:t xml:space="preserve">לשאלות בלבד</a:t>
            </a:r>
          </a:p>
          <a:p>
            <a:pPr rtl="0" algn="r"/>
          </a:p>
          <a:p>
            <a:pPr rtl="1" algn="r"/>
            <a:r>
              <a:rPr lang="he-IL"/>
              <a:t xml:space="preserve">ה-</a:t>
            </a:r>
            <a:r>
              <a:rPr lang="en-US"/>
              <a:t xml:space="preserve">PRD</a:t>
            </a:r>
            <a:r>
              <a:rPr lang="he-IL"/>
              <a:t xml:space="preserve"> כולל שלושים ושבעה סעיפים, אך חלקם עדיין לא עובדו. אין לטעון שכל מסמך המסירה הושלם. החלטת היקף קונקרטית מתועדת ב-</a:t>
            </a:r>
            <a:r>
              <a:rPr lang="en-US"/>
              <a:t xml:space="preserve">doc-mlp-scope:</a:t>
            </a:r>
            <a:r>
              <a:rPr lang="he-IL"/>
              <a:t xml:space="preserve"> סליקה וחשבוניות מדומות, ותזונה שדורשת </a:t>
            </a:r>
            <a:r>
              <a:rPr lang="en-US"/>
              <a:t xml:space="preserve">AI</a:t>
            </a:r>
            <a:r>
              <a:rPr lang="he-IL"/>
              <a:t xml:space="preserve"> נדחית. ה-</a:t>
            </a:r>
            <a:r>
              <a:rPr lang="en-US"/>
              <a:t xml:space="preserve">SETTINGS</a:t>
            </a:r>
            <a:r>
              <a:rPr lang="he-IL"/>
              <a:t xml:space="preserve"> מרכז ערכים משתנים, ו-</a:t>
            </a:r>
            <a:r>
              <a:rPr lang="en-US"/>
              <a:t xml:space="preserve">ERROR_CODES</a:t>
            </a:r>
            <a:r>
              <a:rPr lang="he-IL"/>
              <a:t xml:space="preserve"> מרכז הודעות. תרשים הארכיטקטורה המלא הוא </a:t>
            </a:r>
            <a:r>
              <a:rPr lang="en-US"/>
              <a:t xml:space="preserve">diagram-06-architecture.</a:t>
            </a:r>
            <a:r>
              <a:rPr lang="he-IL"/>
              <a:t xml:space="preserve"> טבלת </a:t>
            </a:r>
            <a:r>
              <a:rPr lang="en-US"/>
              <a:t xml:space="preserve">Registry</a:t>
            </a:r>
            <a:r>
              <a:rPr lang="he-IL"/>
              <a:t xml:space="preserve"> מגדירה מי רשאי לבקש מה, ו-</a:t>
            </a:r>
            <a:r>
              <a:rPr lang="en-US"/>
              <a:t xml:space="preserve">Audit</a:t>
            </a:r>
            <a:r>
              <a:rPr lang="he-IL"/>
              <a:t xml:space="preserve"> מתעד בקשות ותשובות. אם הייתי מתחיל מחדש, הייתי מקדים אימות עם מאמן ומתאמן וקובע מדידת בסיס, לפני הרחבת ההיקף.</a:t>
            </a:r>
          </a:p>
          <a:p>
            <a:pPr rtl="0" algn="r"/>
          </a:p>
          <a:p>
            <a:pPr rtl="1" algn="r"/>
            <a:r>
              <a:rPr lang="he-IL"/>
              <a:t xml:space="preserve">הפעלה ותזמון:</a:t>
            </a:r>
          </a:p>
          <a:p>
            <a:pPr rtl="1" algn="r"/>
            <a:r>
              <a:rPr lang="he-IL"/>
              <a:t xml:space="preserve">לשאלת המסירה להפנות לקישורים. לשאלת </a:t>
            </a:r>
            <a:r>
              <a:rPr lang="en-US"/>
              <a:t xml:space="preserve">AI</a:t>
            </a:r>
            <a:r>
              <a:rPr lang="he-IL"/>
              <a:t xml:space="preserve"> עתידי: ספק, שדות מותרים ומדיניות מידע הם החלטת הארגון. יש לממש שער ספק, סימון תשובות, בדיקות גרסה ואימות פלט לפני הפעלה. המנגנונים האלה עדיין אינם ממומשים במוצר.</a:t>
            </a:r>
          </a:p>
          <a:p>
            <a:pPr rtl="0" algn="r"/>
          </a:p>
          <a:p>
            <a:pPr rtl="1" algn="r"/>
            <a:r>
              <a:rPr lang="he-IL"/>
              <a:t xml:space="preserve">מקורות:</a:t>
            </a:r>
          </a:p>
          <a:p>
            <a:pPr rtl="0" algn="r"/>
            <a:r>
              <a:rPr lang="en-US"/>
              <a:t xml:space="preserve">https://github.com/Sharpop30/fitness-app/blob/main/project-docs/prd-fitness-app.docx</a:t>
            </a:r>
          </a:p>
          <a:p>
            <a:pPr rtl="0" algn="r"/>
            <a:r>
              <a:rPr lang="en-US"/>
              <a:t xml:space="preserve">https://github.com/Sharpop30/fitness-app/blob/main/project-docs/doc-module-map.md</a:t>
            </a:r>
          </a:p>
          <a:p>
            <a:pPr rtl="0" algn="r"/>
            <a:r>
              <a:rPr lang="en-US"/>
              <a:t xml:space="preserve">https://github.com/Sharpop30/fitness-app/blob/main/CLAUDE.md</a:t>
            </a:r>
          </a:p>
          <a:p>
            <a:pPr rtl="0" algn="r"/>
            <a:r>
              <a:rPr lang="en-US"/>
              <a:t xml:space="preserve">https://github.com/Sharpop30/fitness-app/blob/main/project-docs/mermaid/diagram-06-architecture.mmd</a:t>
            </a:r>
          </a:p>
          <a:p>
            <a:pPr rtl="0" algn="r"/>
            <a:r>
              <a:rPr lang="en-US"/>
              <a:t xml:space="preserve">https://github.com/Sharpop30/fitness-app/blob/main/project-docs/doc-mlp-scope.md</a:t>
            </a:r>
          </a:p>
        </p:txBody>
      </p:sp>
      <p:sp>
        <p:nvSpPr>
          <p:cNvPr id="4" name="Slide Number Placeholder 3"/>
          <p:cNvSpPr>
            <a:spLocks noGrp="1"/>
          </p:cNvSpPr>
          <p:nvPr>
            <p:ph type="sldNum" idx="5"/>
          </p:nvPr>
        </p:nvSpPr>
        <p:spPr/>
        <p:txBody>
          <a:bodyPr/>
          <a:lstStyle>
            <a:defPPr rtl="1" algn="r">
              <a:defRPr lang="he-IL"/>
            </a:defPPr>
          </a:lstStyle>
          <a:p>
            <a:pPr rtl="0" algn="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3915e9874940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9f154d577f4952" /><Relationship Type="http://schemas.openxmlformats.org/officeDocument/2006/relationships/slideLayout" Target="/ppt/slideLayouts/slideLayout1.xml" Id="Rfcd4ca7a585d4b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d4ca7a585d4b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d4f4cb4c424ac0" /><Relationship Type="http://schemas.openxmlformats.org/officeDocument/2006/relationships/image" Target="/ppt/media/image.png" Id="R8820ca6f66fb4045" /><Relationship Type="http://schemas.openxmlformats.org/officeDocument/2006/relationships/notesSlide" Target="/ppt/notesSlides/notesSlide1.xml" Id="R9f26c77796f04b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856ebe9ec54fa5" /><Relationship Type="http://schemas.openxmlformats.org/officeDocument/2006/relationships/notesSlide" Target="/ppt/notesSlides/notesSlide2.xml" Id="R528a0ac0b32a427f" /></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03ccd3558ee4af3"/><Relationship Type="http://schemas.openxmlformats.org/officeDocument/2006/relationships/notesSlide" Target="/ppt/notesSlides/notesSlide3.xml" Id="R9d71b581f88e4c9c"/><Relationship Id="rIdLink2" Type="http://schemas.openxmlformats.org/officeDocument/2006/relationships/hyperlink" Target="https://github.com/Sharpop30/fitness-app/blob/main/project-docs/prd-fitness-app.docx" TargetMode="Externa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687903dfc1264897"/><Relationship Type="http://schemas.openxmlformats.org/officeDocument/2006/relationships/image" Target="/ppt/media/image2.png" Id="R9ade1088e23e46a8"/><Relationship Type="http://schemas.openxmlformats.org/officeDocument/2006/relationships/image" Target="/ppt/media/image3.png" Id="Rb57708b736f04e8c"/><Relationship Type="http://schemas.openxmlformats.org/officeDocument/2006/relationships/image" Target="/ppt/media/image4.png" Id="R642abbb039fb477f"/><Relationship Type="http://schemas.openxmlformats.org/officeDocument/2006/relationships/notesSlide" Target="/ppt/notesSlides/notesSlide4.xml" Id="Ra78af03a734b4575"/><Relationship Id="rIdLink5" Type="http://schemas.openxmlformats.org/officeDocument/2006/relationships/hyperlink" Target="fitness-app-demo.html" TargetMode="External"/><Relationship Id="rIdLink6" Type="http://schemas.openxmlformats.org/officeDocument/2006/relationships/hyperlink" Target="backup-player.html" TargetMode="External"/></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8cacd69122434f" /><Relationship Type="http://schemas.openxmlformats.org/officeDocument/2006/relationships/notesSlide" Target="/ppt/notesSlides/notesSlide5.xml" Id="R01ab41edd13c4d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da779af4a44cdd" /><Relationship Type="http://schemas.openxmlformats.org/officeDocument/2006/relationships/notesSlide" Target="/ppt/notesSlides/notesSlide6.xml" Id="R3dbe34f1d3964a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8c94cf9b1b4644" /><Relationship Type="http://schemas.openxmlformats.org/officeDocument/2006/relationships/notesSlide" Target="/ppt/notesSlides/notesSlide7.xml" Id="Rdb43cd935f7448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658424fee1449a" /><Relationship Type="http://schemas.openxmlformats.org/officeDocument/2006/relationships/image" Target="/ppt/media/image5.png" Id="R75c27a04d1d045ba" /><Relationship Type="http://schemas.openxmlformats.org/officeDocument/2006/relationships/notesSlide" Target="/ppt/notesSlides/notesSlide8.xml" Id="Ra8e319e7e0a642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e19f6d532cc4bd5" /><Relationship Type="http://schemas.openxmlformats.org/officeDocument/2006/relationships/notesSlide" Target="/ppt/notesSlides/notesSlide9.xml" Id="R80567d7ef0714434" /></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3261A"/>
        </a:solidFill>
      </p:bgPr>
    </p:bg>
    <p:spTree>
      <p:nvGrpSpPr>
        <p:cNvPr id="1" name=""/>
        <p:cNvGrpSpPr/>
        <p:nvPr/>
      </p:nvGrpSpPr>
      <p:grpSpPr>
        <a:xfrm/>
      </p:grpSpPr>
      <p:sp>
        <p:nvSpPr>
          <p:cNvPr id="9" name="">
            <a:extLst>
              <a:ext uri="{FF2B5EF4-FFF2-40B4-BE49-F238E27FC236}">
                <a16:creationId xmlns:a16="http://schemas.microsoft.com/office/drawing/2014/main" id="{EB5DF89B-D55C-4758-9BE0-2F475716CA68}"/>
              </a:ext>
            </a:extLst>
          </p:cNvPr>
          <p:cNvSpPr>
            <a:spLocks noGrp="1"/>
          </p:cNvSpPr>
          <p:nvPr/>
        </p:nvSpPr>
        <p:spPr>
          <a:xfrm>
            <a:off x="4095750" y="809625"/>
            <a:ext cx="7239000" cy="1381125"/>
          </a:xfrm>
          <a:prstGeom prst="rect">
            <a:avLst/>
          </a:prstGeom>
          <a:noFill/>
          <a:ln w="0">
            <a:noFill/>
          </a:ln>
        </p:spPr>
        <p:txBody>
          <a:bodyPr lIns="0" tIns="0" rIns="0" bIns="0" anchor="ctr">
            <a:noAutofit/>
          </a:bodyPr>
          <a:lstStyle>
            <a:defPPr rtl="1" algn="r">
              <a:defRPr lang="he-IL"/>
            </a:defPPr>
          </a:lstStyle>
          <a:p>
            <a:pPr algn="r" rtl="1">
              <a:defRPr sz="4350" b="1" lang="he-IL">
                <a:solidFill>
                  <a:srgbClr val="FFFFFF"/>
                </a:solidFill>
                <a:latin typeface="Arial"/>
                <a:ea typeface="Arial"/>
                <a:cs typeface="Arial"/>
              </a:defRPr>
            </a:pPr>
            <a:r>
              <a:rPr sz="4350" b="1" lang="he-IL">
                <a:solidFill>
                  <a:srgbClr val="FFFFFF"/>
                </a:solidFill>
                <a:latin typeface="Arial"/>
                <a:ea typeface="Arial"/>
                <a:cs typeface="Arial"/>
              </a:rPr>
              <a:t xml:space="preserve">קושי להתמיד באימון</a:t>
            </a:r>
          </a:p>
          <a:p>
            <a:pPr algn="r" rtl="1">
              <a:defRPr sz="4350" b="1" lang="he-IL">
                <a:solidFill>
                  <a:srgbClr val="FFFFFF"/>
                </a:solidFill>
                <a:latin typeface="Arial"/>
                <a:ea typeface="Arial"/>
                <a:cs typeface="Arial"/>
              </a:defRPr>
            </a:pPr>
            <a:r>
              <a:rPr sz="4350" b="1" lang="he-IL">
                <a:solidFill>
                  <a:srgbClr val="FFFFFF"/>
                </a:solidFill>
                <a:latin typeface="Arial"/>
                <a:ea typeface="Arial"/>
                <a:cs typeface="Arial"/>
              </a:rPr>
              <a:t xml:space="preserve">לאורך זמן</a:t>
            </a:r>
          </a:p>
        </p:txBody>
      </p:sp>
      <p:sp>
        <p:nvSpPr>
          <p:cNvPr id="2" name="">
            <a:extLst>
              <a:ext uri="{FF2B5EF4-FFF2-40B4-BE49-F238E27FC236}">
                <a16:creationId xmlns:a16="http://schemas.microsoft.com/office/drawing/2014/main" id="{76E4926C-EC03-4921-A295-B7ED60384912}"/>
              </a:ext>
            </a:extLst>
          </p:cNvPr>
          <p:cNvSpPr>
            <a:spLocks noGrp="1"/>
          </p:cNvSpPr>
          <p:nvPr/>
        </p:nvSpPr>
        <p:spPr>
          <a:xfrm>
            <a:off x="4095750" y="2333625"/>
            <a:ext cx="7239000" cy="952500"/>
          </a:xfrm>
          <a:prstGeom prst="rect">
            <a:avLst/>
          </a:prstGeom>
          <a:noFill/>
          <a:ln w="0">
            <a:noFill/>
          </a:ln>
        </p:spPr>
        <p:txBody>
          <a:bodyPr lIns="0" tIns="0" rIns="0" bIns="0" anchor="ctr">
            <a:noAutofit/>
          </a:bodyPr>
          <a:lstStyle>
            <a:defPPr rtl="1" algn="r">
              <a:defRPr lang="he-IL"/>
            </a:defPPr>
          </a:lstStyle>
          <a:p>
            <a:pPr algn="r" rtl="1">
              <a:defRPr sz="2250" b="0" lang="he-IL">
                <a:solidFill>
                  <a:srgbClr val="FFFFFF"/>
                </a:solidFill>
                <a:latin typeface="Arial"/>
                <a:ea typeface="Arial"/>
                <a:cs typeface="Arial"/>
              </a:defRPr>
            </a:pPr>
            <a:r>
              <a:rPr sz="2250" b="0" lang="he-IL">
                <a:solidFill>
                  <a:srgbClr val="FFFFFF"/>
                </a:solidFill>
                <a:latin typeface="Arial"/>
                <a:ea typeface="Arial"/>
                <a:cs typeface="Arial"/>
              </a:rPr>
              <a:t xml:space="preserve">כשחסרים קשר אישי, שייכות לקהילה</a:t>
            </a:r>
          </a:p>
          <a:p>
            <a:pPr algn="r" rtl="1">
              <a:defRPr sz="2250" b="0" lang="he-IL">
                <a:solidFill>
                  <a:srgbClr val="FFFFFF"/>
                </a:solidFill>
                <a:latin typeface="Arial"/>
                <a:ea typeface="Arial"/>
                <a:cs typeface="Arial"/>
              </a:defRPr>
            </a:pPr>
            <a:r>
              <a:rPr sz="2250" b="0" lang="he-IL">
                <a:solidFill>
                  <a:srgbClr val="FFFFFF"/>
                </a:solidFill>
                <a:latin typeface="Arial"/>
                <a:ea typeface="Arial"/>
                <a:cs typeface="Arial"/>
              </a:rPr>
              <a:t xml:space="preserve">והכרה במאמץ, המוטיבציה עלולה להיחלש.</a:t>
            </a:r>
          </a:p>
        </p:txBody>
      </p:sp>
      <p:sp>
        <p:nvSpPr>
          <p:cNvPr id="3" name="">
            <a:extLst>
              <a:ext uri="{FF2B5EF4-FFF2-40B4-BE49-F238E27FC236}">
                <a16:creationId xmlns:a16="http://schemas.microsoft.com/office/drawing/2014/main" id="{3DD9827D-0D67-43E5-B800-7A4EA99EF24A}"/>
              </a:ext>
            </a:extLst>
          </p:cNvPr>
          <p:cNvSpPr>
            <a:spLocks noGrp="1"/>
          </p:cNvSpPr>
          <p:nvPr/>
        </p:nvSpPr>
        <p:spPr>
          <a:xfrm>
            <a:off x="4095750" y="3476625"/>
            <a:ext cx="7239000" cy="523875"/>
          </a:xfrm>
          <a:prstGeom prst="rect">
            <a:avLst/>
          </a:prstGeom>
          <a:noFill/>
          <a:ln w="0">
            <a:noFill/>
          </a:ln>
        </p:spPr>
        <p:txBody>
          <a:bodyPr lIns="0" tIns="0" rIns="0" bIns="0" anchor="ctr">
            <a:noAutofit/>
          </a:bodyPr>
          <a:lstStyle>
            <a:defPPr rtl="1" algn="r">
              <a:defRPr lang="he-IL"/>
            </a:defPPr>
          </a:lstStyle>
          <a:p>
            <a:pPr algn="r" rtl="1">
              <a:defRPr sz="2250" b="1" lang="he-IL">
                <a:solidFill>
                  <a:srgbClr val="C3F03F"/>
                </a:solidFill>
                <a:latin typeface="Arial"/>
                <a:ea typeface="Arial"/>
                <a:cs typeface="Arial"/>
              </a:defRPr>
            </a:pPr>
            <a:r>
              <a:rPr sz="2250" b="1" lang="he-IL">
                <a:solidFill>
                  <a:srgbClr val="C3F03F"/>
                </a:solidFill>
                <a:latin typeface="Arial"/>
                <a:ea typeface="Arial"/>
                <a:cs typeface="Arial"/>
              </a:rPr>
              <a:t xml:space="preserve">מטרת האפליקציה: לחזק מוטיבציה פנימית</a:t>
            </a:r>
          </a:p>
        </p:txBody>
      </p:sp>
      <p:sp>
        <p:nvSpPr>
          <p:cNvPr id="4" name="">
            <a:extLst>
              <a:ext uri="{FF2B5EF4-FFF2-40B4-BE49-F238E27FC236}">
                <a16:creationId xmlns:a16="http://schemas.microsoft.com/office/drawing/2014/main" id="{EBEA82A4-CDEB-42D1-B68F-F749F1951ACA}"/>
              </a:ext>
            </a:extLst>
          </p:cNvPr>
          <p:cNvSpPr>
            <a:spLocks noGrp="1"/>
          </p:cNvSpPr>
          <p:nvPr/>
        </p:nvSpPr>
        <p:spPr>
          <a:xfrm>
            <a:off x="4095750" y="4095750"/>
            <a:ext cx="7239000" cy="904875"/>
          </a:xfrm>
          <a:prstGeom prst="rect">
            <a:avLst/>
          </a:prstGeom>
          <a:noFill/>
          <a:ln w="0">
            <a:noFill/>
          </a:ln>
        </p:spPr>
        <p:txBody>
          <a:bodyPr lIns="0" tIns="0" rIns="0" bIns="0" anchor="ctr">
            <a:noAutofit/>
          </a:bodyPr>
          <a:lstStyle>
            <a:defPPr rtl="1" algn="r">
              <a:defRPr lang="he-IL"/>
            </a:defPPr>
          </a:lstStyle>
          <a:p>
            <a:pPr algn="r" rtl="1">
              <a:defRPr sz="2250" b="0" lang="he-IL">
                <a:solidFill>
                  <a:srgbClr val="FFFFFF"/>
                </a:solidFill>
                <a:latin typeface="Arial"/>
                <a:ea typeface="Arial"/>
                <a:cs typeface="Arial"/>
              </a:defRPr>
            </a:pPr>
            <a:r>
              <a:rPr sz="2250" b="0" lang="he-IL">
                <a:solidFill>
                  <a:srgbClr val="FFFFFF"/>
                </a:solidFill>
                <a:latin typeface="Arial"/>
                <a:ea typeface="Arial"/>
                <a:cs typeface="Arial"/>
              </a:rPr>
              <a:t xml:space="preserve">יחס אישי וחיבור לקהילה, לצד תגמולים</a:t>
            </a:r>
          </a:p>
          <a:p>
            <a:pPr algn="r" rtl="1">
              <a:defRPr sz="2250" b="0" lang="he-IL">
                <a:solidFill>
                  <a:srgbClr val="FFFFFF"/>
                </a:solidFill>
                <a:latin typeface="Arial"/>
                <a:ea typeface="Arial"/>
                <a:cs typeface="Arial"/>
              </a:defRPr>
            </a:pPr>
            <a:r>
              <a:rPr sz="2250" b="0" lang="he-IL">
                <a:solidFill>
                  <a:srgbClr val="FFFFFF"/>
                </a:solidFill>
                <a:latin typeface="Arial"/>
                <a:ea typeface="Arial"/>
                <a:cs typeface="Arial"/>
              </a:rPr>
              <a:t xml:space="preserve">על השקעה והתמדה לאורך זמן.</a:t>
            </a:r>
          </a:p>
        </p:txBody>
      </p:sp>
      <p:sp>
        <p:nvSpPr>
          <p:cNvPr id="5" name="">
            <a:extLst>
              <a:ext uri="{FF2B5EF4-FFF2-40B4-BE49-F238E27FC236}">
                <a16:creationId xmlns:a16="http://schemas.microsoft.com/office/drawing/2014/main" id="{B4AF8E3F-04EF-4B4D-8E83-C5AAF4CF7E6F}"/>
              </a:ext>
            </a:extLst>
          </p:cNvPr>
          <p:cNvSpPr>
            <a:spLocks noGrp="1"/>
          </p:cNvSpPr>
          <p:nvPr/>
        </p:nvSpPr>
        <p:spPr>
          <a:xfrm>
            <a:off x="4095750" y="5238750"/>
            <a:ext cx="7239000" cy="333375"/>
          </a:xfrm>
          <a:prstGeom prst="rect">
            <a:avLst/>
          </a:prstGeom>
          <a:noFill/>
          <a:ln w="0">
            <a:noFill/>
          </a:ln>
        </p:spPr>
        <p:txBody>
          <a:bodyPr lIns="0" tIns="0" rIns="0" bIns="0" anchor="ctr">
            <a:noAutofit/>
          </a:bodyPr>
          <a:lstStyle>
            <a:defPPr rtl="1" algn="r">
              <a:defRPr lang="he-IL"/>
            </a:defPPr>
          </a:lstStyle>
          <a:p>
            <a:pPr algn="r" rtl="0">
              <a:defRPr sz="1875" b="0" lang="en-US">
                <a:solidFill>
                  <a:srgbClr val="FFFFFF"/>
                </a:solidFill>
                <a:latin typeface="Arial"/>
                <a:ea typeface="Arial"/>
                <a:cs typeface="Arial"/>
              </a:defRPr>
            </a:pPr>
            <a:r>
              <a:rPr sz="1875" b="0" lang="en-US">
                <a:solidFill>
                  <a:srgbClr val="FFFFFF"/>
                </a:solidFill>
                <a:latin typeface="Arial"/>
                <a:ea typeface="Arial"/>
                <a:cs typeface="Arial"/>
              </a:rPr>
              <a:t xml:space="preserve">fitness-app</a:t>
            </a:r>
          </a:p>
        </p:txBody>
      </p:sp>
      <p:sp>
        <p:nvSpPr>
          <p:cNvPr id="6" name="">
            <a:extLst>
              <a:ext uri="{FF2B5EF4-FFF2-40B4-BE49-F238E27FC236}">
                <a16:creationId xmlns:a16="http://schemas.microsoft.com/office/drawing/2014/main" id="{61184FB4-B438-4853-B08E-BC635900964A}"/>
              </a:ext>
            </a:extLst>
          </p:cNvPr>
          <p:cNvSpPr>
            <a:spLocks noGrp="1"/>
          </p:cNvSpPr>
          <p:nvPr/>
        </p:nvSpPr>
        <p:spPr>
          <a:xfrm>
            <a:off x="4095750" y="5695950"/>
            <a:ext cx="7239000" cy="314325"/>
          </a:xfrm>
          <a:prstGeom prst="rect">
            <a:avLst/>
          </a:prstGeom>
          <a:noFill/>
          <a:ln w="0">
            <a:noFill/>
          </a:ln>
        </p:spPr>
        <p:txBody>
          <a:bodyPr lIns="0" tIns="0" rIns="0" bIns="0" anchor="ctr">
            <a:noAutofit/>
          </a:bodyPr>
          <a:lstStyle>
            <a:defPPr rtl="1" algn="r">
              <a:defRPr lang="he-IL"/>
            </a:defPPr>
          </a:lstStyle>
          <a:p>
            <a:pPr algn="r" rtl="1">
              <a:defRPr sz="1725" b="0" lang="he-IL">
                <a:solidFill>
                  <a:srgbClr val="C3F03F"/>
                </a:solidFill>
                <a:latin typeface="Arial"/>
                <a:ea typeface="Arial"/>
                <a:cs typeface="Arial"/>
              </a:defRPr>
            </a:pPr>
            <a:r>
              <a:rPr sz="1725" b="0" lang="he-IL">
                <a:solidFill>
                  <a:srgbClr val="C3F03F"/>
                </a:solidFill>
                <a:latin typeface="Arial"/>
                <a:ea typeface="Arial"/>
                <a:cs typeface="Arial"/>
              </a:rPr>
              <a:t xml:space="preserve">מסלול ארבע: ההדגמה החיה</a:t>
            </a:r>
          </a:p>
        </p:txBody>
      </p:sp>
      <p:sp>
        <p:nvSpPr>
          <p:cNvPr id="7" name="">
            <a:extLst>
              <a:ext uri="{FF2B5EF4-FFF2-40B4-BE49-F238E27FC236}">
                <a16:creationId xmlns:a16="http://schemas.microsoft.com/office/drawing/2014/main" id="{A1A56461-A5EA-4B79-9877-8C124BB1A208}"/>
              </a:ext>
            </a:extLst>
          </p:cNvPr>
          <p:cNvSpPr>
            <a:spLocks noGrp="1"/>
          </p:cNvSpPr>
          <p:nvPr/>
        </p:nvSpPr>
        <p:spPr>
          <a:xfrm>
            <a:off x="4095750" y="6153150"/>
            <a:ext cx="7239000" cy="304800"/>
          </a:xfrm>
          <a:prstGeom prst="rect">
            <a:avLst/>
          </a:prstGeom>
          <a:noFill/>
          <a:ln w="0">
            <a:noFill/>
          </a:ln>
        </p:spPr>
        <p:txBody>
          <a:bodyPr lIns="0" tIns="0" rIns="0" bIns="0" anchor="ctr">
            <a:noAutofit/>
          </a:bodyPr>
          <a:lstStyle>
            <a:defPPr rtl="1" algn="r">
              <a:defRPr lang="he-IL"/>
            </a:defPPr>
          </a:lstStyle>
          <a:p>
            <a:pPr algn="r" rtl="1">
              <a:defRPr sz="1650" b="0" lang="he-IL">
                <a:solidFill>
                  <a:srgbClr val="FFFFFF"/>
                </a:solidFill>
                <a:latin typeface="Arial"/>
                <a:ea typeface="Arial"/>
                <a:cs typeface="Arial"/>
              </a:defRPr>
            </a:pPr>
            <a:r>
              <a:rPr sz="1650" b="0" lang="he-IL">
                <a:solidFill>
                  <a:srgbClr val="FFFFFF"/>
                </a:solidFill>
                <a:latin typeface="Arial"/>
                <a:ea typeface="Arial"/>
                <a:cs typeface="Arial"/>
              </a:rPr>
              <a:t xml:space="preserve">רועי · עופרי · דניאל · שחר</a:t>
            </a:r>
          </a:p>
        </p:txBody>
      </p:sp>
      <p:pic>
        <p:nvPicPr>
          <p:cNvPr id="16" name=""/>
          <p:cNvPicPr>
            <a:picLocks noChangeAspect="1"/>
          </p:cNvPicPr>
          <p:nvPr/>
        </p:nvPicPr>
        <p:blipFill>
          <a:blip r:embed="R8820ca6f66fb4045"/>
          <a:stretch/>
        </p:blipFill>
        <p:spPr>
          <a:xfrm>
            <a:off x="844021" y="809625"/>
            <a:ext cx="2502958" cy="5238750"/>
          </a:xfrm>
          <a:prstGeom prst="rect">
            <a:avLst/>
          </a:prstGeom>
        </p:spPr>
      </p:pic>
    </p:spTree>
    <p:extLst>
      <p:ext uri="{BB962C8B-B14F-4D97-AF65-F5344CB8AC3E}">
        <p14:creationId xmlns:p14="http://schemas.microsoft.com/office/powerpoint/2010/main" val="1316307744"/>
      </p:ext>
    </p:extLst>
  </p:cSld>
</p:sld>
</file>

<file path=ppt/slides/slide2.xml><?xml version="1.0" encoding="utf-8"?>
<p:sld xmlns:p="http://schemas.openxmlformats.org/presentationml/2006/main" xmlns:a="http://schemas.openxmlformats.org/drawingml/2006/main">
  <p:cSld>
    <p:bg>
      <p:bgPr>
        <a:solidFill>
          <a:srgbClr val="F4F4F1"/>
        </a:solidFill>
      </p:bgPr>
    </p:bg>
    <p:spTree>
      <p:nvGrpSpPr>
        <p:cNvPr id="1" name=""/>
        <p:cNvGrpSpPr/>
        <p:nvPr/>
      </p:nvGrpSpPr>
      <p:grpSpPr>
        <a:xfrm/>
      </p:grpSpPr>
      <p:sp>
        <p:nvSpPr>
          <p:cNvPr id="11" name="">
            <a:extLst>
              <a:ext uri="{FF2B5EF4-FFF2-40B4-BE49-F238E27FC236}">
                <a16:creationId xmlns:a16="http://schemas.microsoft.com/office/drawing/2014/main" id="{02FA955D-DBD9-4522-BA88-D95DE32C83D9}"/>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מפת הרכיבים</a:t>
            </a:r>
          </a:p>
        </p:txBody>
      </p:sp>
      <p:sp>
        <p:nvSpPr>
          <p:cNvPr id="2" name="">
            <a:extLst>
              <a:ext uri="{FF2B5EF4-FFF2-40B4-BE49-F238E27FC236}">
                <a16:creationId xmlns:a16="http://schemas.microsoft.com/office/drawing/2014/main" id="{6E860DC8-8C95-4B63-AD05-57E99BBA7851}"/>
              </a:ext>
            </a:extLst>
          </p:cNvPr>
          <p:cNvSpPr>
            <a:spLocks noGrp="1"/>
          </p:cNvSpPr>
          <p:nvPr/>
        </p:nvSpPr>
        <p:spPr>
          <a:xfrm>
            <a:off x="952500" y="14763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קוד</a:t>
            </a:r>
          </a:p>
        </p:txBody>
      </p:sp>
      <p:sp>
        <p:nvSpPr>
          <p:cNvPr id="3" name="">
            <a:extLst>
              <a:ext uri="{FF2B5EF4-FFF2-40B4-BE49-F238E27FC236}">
                <a16:creationId xmlns:a16="http://schemas.microsoft.com/office/drawing/2014/main" id="{884C870D-B4DA-4CA0-BC8D-B4FDD0E9C027}"/>
              </a:ext>
            </a:extLst>
          </p:cNvPr>
          <p:cNvSpPr>
            <a:spLocks noGrp="1"/>
          </p:cNvSpPr>
          <p:nvPr/>
        </p:nvSpPr>
        <p:spPr>
          <a:xfrm>
            <a:off x="952500" y="1905000"/>
            <a:ext cx="10477500" cy="619125"/>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ממשק משתמש בעברית, שרת ומסד נתונים</a:t>
            </a:r>
          </a:p>
          <a:p>
            <a:pPr algn="r" rtl="0">
              <a:defRPr sz="2175" b="0" lang="en-US">
                <a:solidFill>
                  <a:srgbClr val="13261A"/>
                </a:solidFill>
                <a:latin typeface="Arial"/>
                <a:ea typeface="Arial"/>
                <a:cs typeface="Arial"/>
              </a:defRPr>
            </a:pPr>
            <a:r>
              <a:rPr sz="2175" b="0" lang="en-US">
                <a:solidFill>
                  <a:srgbClr val="13261A"/>
                </a:solidFill>
                <a:latin typeface="Arial"/>
                <a:ea typeface="Arial"/>
                <a:cs typeface="Arial"/>
              </a:rPr>
              <a:t xml:space="preserve">React</a:t>
            </a:r>
            <a:r>
              <a:rPr sz="2175" b="0" lang="en-US">
                <a:solidFill>
                  <a:srgbClr val="13261A"/>
                </a:solidFill>
                <a:latin typeface="Arial"/>
                <a:ea typeface="Arial"/>
                <a:cs typeface="Arial"/>
              </a:rPr>
              <a:t xml:space="preserve"> · </a:t>
            </a:r>
            <a:r>
              <a:rPr sz="2175" b="0" lang="en-US">
                <a:solidFill>
                  <a:srgbClr val="13261A"/>
                </a:solidFill>
                <a:latin typeface="Arial"/>
                <a:ea typeface="Arial"/>
                <a:cs typeface="Arial"/>
              </a:rPr>
              <a:t xml:space="preserve">TypeScript</a:t>
            </a:r>
            <a:r>
              <a:rPr sz="2175" b="0" lang="en-US">
                <a:solidFill>
                  <a:srgbClr val="13261A"/>
                </a:solidFill>
                <a:latin typeface="Arial"/>
                <a:ea typeface="Arial"/>
                <a:cs typeface="Arial"/>
              </a:rPr>
              <a:t xml:space="preserve"> · </a:t>
            </a:r>
            <a:r>
              <a:rPr sz="2175" b="0" lang="en-US">
                <a:solidFill>
                  <a:srgbClr val="13261A"/>
                </a:solidFill>
                <a:latin typeface="Arial"/>
                <a:ea typeface="Arial"/>
                <a:cs typeface="Arial"/>
              </a:rPr>
              <a:t xml:space="preserve">Supabase</a:t>
            </a:r>
          </a:p>
        </p:txBody>
      </p:sp>
      <p:sp>
        <p:nvSpPr>
          <p:cNvPr id="4" name="">
            <a:extLst>
              <a:ext uri="{FF2B5EF4-FFF2-40B4-BE49-F238E27FC236}">
                <a16:creationId xmlns:a16="http://schemas.microsoft.com/office/drawing/2014/main" id="{76A9EB77-3B2D-4AD7-9B68-CF6672E3BE05}"/>
              </a:ext>
            </a:extLst>
          </p:cNvPr>
          <p:cNvSpPr>
            <a:spLocks noGrp="1"/>
          </p:cNvSpPr>
          <p:nvPr/>
        </p:nvSpPr>
        <p:spPr>
          <a:xfrm>
            <a:off x="952500" y="25812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אוטומציה</a:t>
            </a:r>
          </a:p>
        </p:txBody>
      </p:sp>
      <p:sp>
        <p:nvSpPr>
          <p:cNvPr id="5" name="">
            <a:extLst>
              <a:ext uri="{FF2B5EF4-FFF2-40B4-BE49-F238E27FC236}">
                <a16:creationId xmlns:a16="http://schemas.microsoft.com/office/drawing/2014/main" id="{74AD7FA1-FB69-47D1-89F4-B16C80AC8624}"/>
              </a:ext>
            </a:extLst>
          </p:cNvPr>
          <p:cNvSpPr>
            <a:spLocks noGrp="1"/>
          </p:cNvSpPr>
          <p:nvPr/>
        </p:nvSpPr>
        <p:spPr>
          <a:xfrm>
            <a:off x="952500" y="3009900"/>
            <a:ext cx="10477500" cy="619125"/>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שמירת אימון מפעילה בקשות למשוב, מטבעות ואתגר</a:t>
            </a:r>
          </a:p>
        </p:txBody>
      </p:sp>
      <p:sp>
        <p:nvSpPr>
          <p:cNvPr id="6" name="">
            <a:extLst>
              <a:ext uri="{FF2B5EF4-FFF2-40B4-BE49-F238E27FC236}">
                <a16:creationId xmlns:a16="http://schemas.microsoft.com/office/drawing/2014/main" id="{0A40F1E1-F0DE-407F-8647-EC5A7A729358}"/>
              </a:ext>
            </a:extLst>
          </p:cNvPr>
          <p:cNvSpPr>
            <a:spLocks noGrp="1"/>
          </p:cNvSpPr>
          <p:nvPr/>
        </p:nvSpPr>
        <p:spPr>
          <a:xfrm>
            <a:off x="952500" y="36861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סוכן</a:t>
            </a:r>
          </a:p>
        </p:txBody>
      </p:sp>
      <p:sp>
        <p:nvSpPr>
          <p:cNvPr id="7" name="">
            <a:extLst>
              <a:ext uri="{FF2B5EF4-FFF2-40B4-BE49-F238E27FC236}">
                <a16:creationId xmlns:a16="http://schemas.microsoft.com/office/drawing/2014/main" id="{C2A6108A-830A-463A-B606-14886D5A162B}"/>
              </a:ext>
            </a:extLst>
          </p:cNvPr>
          <p:cNvSpPr>
            <a:spLocks noGrp="1"/>
          </p:cNvSpPr>
          <p:nvPr/>
        </p:nvSpPr>
        <p:spPr>
          <a:xfrm>
            <a:off x="952500" y="4114800"/>
            <a:ext cx="10477500" cy="619125"/>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אין סוכן בינה מלאכותית בגרסה הראשונה. ההחלטות מבוססות כללים</a:t>
            </a:r>
          </a:p>
        </p:txBody>
      </p:sp>
      <p:sp>
        <p:nvSpPr>
          <p:cNvPr id="8" name="">
            <a:extLst>
              <a:ext uri="{FF2B5EF4-FFF2-40B4-BE49-F238E27FC236}">
                <a16:creationId xmlns:a16="http://schemas.microsoft.com/office/drawing/2014/main" id="{B9F4EE45-F6DF-422D-912A-56BB2077E8DB}"/>
              </a:ext>
            </a:extLst>
          </p:cNvPr>
          <p:cNvSpPr>
            <a:spLocks noGrp="1"/>
          </p:cNvSpPr>
          <p:nvPr/>
        </p:nvSpPr>
        <p:spPr>
          <a:xfrm>
            <a:off x="952500" y="47910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ממשקים</a:t>
            </a:r>
          </a:p>
        </p:txBody>
      </p:sp>
      <p:sp>
        <p:nvSpPr>
          <p:cNvPr id="9" name="">
            <a:extLst>
              <a:ext uri="{FF2B5EF4-FFF2-40B4-BE49-F238E27FC236}">
                <a16:creationId xmlns:a16="http://schemas.microsoft.com/office/drawing/2014/main" id="{EC71472D-116B-4127-8FFD-290DED6D8AB9}"/>
              </a:ext>
            </a:extLst>
          </p:cNvPr>
          <p:cNvSpPr>
            <a:spLocks noGrp="1"/>
          </p:cNvSpPr>
          <p:nvPr/>
        </p:nvSpPr>
        <p:spPr>
          <a:xfrm>
            <a:off x="952500" y="5219700"/>
            <a:ext cx="10477500" cy="619125"/>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זהות משתמשים, מסד ואחסון. הזמנות וסליקה בהשלמה / הדגמה</a:t>
            </a:r>
          </a:p>
        </p:txBody>
      </p:sp>
      <p:sp>
        <p:nvSpPr>
          <p:cNvPr id="10" name="">
            <a:extLst>
              <a:ext uri="{FF2B5EF4-FFF2-40B4-BE49-F238E27FC236}">
                <a16:creationId xmlns:a16="http://schemas.microsoft.com/office/drawing/2014/main" id="{6984F4A4-9DB3-4DD7-9AD7-6DE24B0656D2}"/>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02</a:t>
            </a:r>
          </a:p>
        </p:txBody>
      </p:sp>
    </p:spTree>
    <p:extLst>
      <p:ext uri="{BB962C8B-B14F-4D97-AF65-F5344CB8AC3E}">
        <p14:creationId xmlns:p14="http://schemas.microsoft.com/office/powerpoint/2010/main" val="1842164039"/>
      </p:ext>
    </p:extLst>
  </p:cSld>
</p:sld>
</file>

<file path=ppt/slides/slide3.xml><?xml version="1.0" encoding="utf-8"?>
<p:sld xmlns:p="http://schemas.openxmlformats.org/presentationml/2006/main" xmlns:a="http://schemas.openxmlformats.org/drawingml/2006/main">
  <p:cSld>
    <p:bg>
      <p:bgPr>
        <a:solidFill>
          <a:srgbClr val="F4F4F1"/>
        </a:solidFill>
      </p:bgPr>
    </p:bg>
    <p:spTree>
      <p:nvGrpSpPr>
        <p:cNvPr id="1" name=""/>
        <p:cNvGrpSpPr/>
        <p:nvPr/>
      </p:nvGrpSpPr>
      <p:grpSpPr>
        <a:xfrm/>
      </p:grpSpPr>
      <p:sp>
        <p:nvSpPr>
          <p:cNvPr id="10" name="">
            <a:extLst>
              <a:ext uri="{FF2B5EF4-FFF2-40B4-BE49-F238E27FC236}">
                <a16:creationId xmlns:a16="http://schemas.microsoft.com/office/drawing/2014/main" id="{A6C65F93-C5AA-49BD-919A-42C4B4A98779}"/>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תיעוד, גבולות ואבטחה</a:t>
            </a:r>
          </a:p>
        </p:txBody>
      </p:sp>
      <p:sp>
        <p:nvSpPr>
          <p:cNvPr id="2" name="">
            <a:extLst>
              <a:ext uri="{FF2B5EF4-FFF2-40B4-BE49-F238E27FC236}">
                <a16:creationId xmlns:a16="http://schemas.microsoft.com/office/drawing/2014/main" id="{52C06F6A-A7A4-470F-AF8E-8A719D32349B}"/>
              </a:ext>
            </a:extLst>
          </p:cNvPr>
          <p:cNvSpPr>
            <a:spLocks noGrp="1"/>
          </p:cNvSpPr>
          <p:nvPr/>
        </p:nvSpPr>
        <p:spPr>
          <a:xfrm>
            <a:off x="952500" y="14763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תיעוד</a:t>
            </a:r>
          </a:p>
        </p:txBody>
      </p:sp>
      <p:sp>
        <p:nvSpPr>
          <p:cNvPr id="3" name="">
            <a:extLst>
              <a:ext uri="{FF2B5EF4-FFF2-40B4-BE49-F238E27FC236}">
                <a16:creationId xmlns:a16="http://schemas.microsoft.com/office/drawing/2014/main" id="{02D6D74D-B1D5-425E-9930-BE0E8B846DE8}"/>
              </a:ext>
            </a:extLst>
          </p:cNvPr>
          <p:cNvSpPr>
            <a:spLocks noGrp="1"/>
          </p:cNvSpPr>
          <p:nvPr/>
        </p:nvSpPr>
        <p:spPr>
          <a:xfrm>
            <a:off x="952500" y="19050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מסמך דרישות מקושר, מפת מודולים, מסמך בנייה ודוחות בדיקה</a:t>
            </a:r>
          </a:p>
        </p:txBody>
      </p:sp>
      <p:sp>
        <p:nvSpPr>
          <p:cNvPr id="4" name="">
            <a:extLst>
              <a:ext uri="{FF2B5EF4-FFF2-40B4-BE49-F238E27FC236}">
                <a16:creationId xmlns:a16="http://schemas.microsoft.com/office/drawing/2014/main" id="{C8B1272F-6223-4266-98D2-ECD0C2E4CC13}"/>
              </a:ext>
            </a:extLst>
          </p:cNvPr>
          <p:cNvSpPr>
            <a:spLocks noGrp="1"/>
          </p:cNvSpPr>
          <p:nvPr/>
        </p:nvSpPr>
        <p:spPr>
          <a:xfrm>
            <a:off x="952500" y="290512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החלטת אדם</a:t>
            </a:r>
          </a:p>
        </p:txBody>
      </p:sp>
      <p:sp>
        <p:nvSpPr>
          <p:cNvPr id="5" name="">
            <a:extLst>
              <a:ext uri="{FF2B5EF4-FFF2-40B4-BE49-F238E27FC236}">
                <a16:creationId xmlns:a16="http://schemas.microsoft.com/office/drawing/2014/main" id="{365AC493-4E0E-4E11-A94A-B16E01AF43C6}"/>
              </a:ext>
            </a:extLst>
          </p:cNvPr>
          <p:cNvSpPr>
            <a:spLocks noGrp="1"/>
          </p:cNvSpPr>
          <p:nvPr/>
        </p:nvSpPr>
        <p:spPr>
          <a:xfrm>
            <a:off x="952500" y="333375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המאמן קובע תוכניות ויעדים. הצוות מאשר שינויים ויציאה לייצור</a:t>
            </a:r>
          </a:p>
        </p:txBody>
      </p:sp>
      <p:sp>
        <p:nvSpPr>
          <p:cNvPr id="6" name="">
            <a:extLst>
              <a:ext uri="{FF2B5EF4-FFF2-40B4-BE49-F238E27FC236}">
                <a16:creationId xmlns:a16="http://schemas.microsoft.com/office/drawing/2014/main" id="{30D4496E-06D7-4B75-B70F-291C1404189B}"/>
              </a:ext>
            </a:extLst>
          </p:cNvPr>
          <p:cNvSpPr>
            <a:spLocks noGrp="1"/>
          </p:cNvSpPr>
          <p:nvPr/>
        </p:nvSpPr>
        <p:spPr>
          <a:xfrm>
            <a:off x="952500" y="43338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סודות ומידע</a:t>
            </a:r>
          </a:p>
        </p:txBody>
      </p:sp>
      <p:sp>
        <p:nvSpPr>
          <p:cNvPr id="7" name="">
            <a:extLst>
              <a:ext uri="{FF2B5EF4-FFF2-40B4-BE49-F238E27FC236}">
                <a16:creationId xmlns:a16="http://schemas.microsoft.com/office/drawing/2014/main" id="{DB587CD5-675E-4C73-B096-475EA79769BE}"/>
              </a:ext>
            </a:extLst>
          </p:cNvPr>
          <p:cNvSpPr>
            <a:spLocks noGrp="1"/>
          </p:cNvSpPr>
          <p:nvPr/>
        </p:nvSpPr>
        <p:spPr>
          <a:xfrm>
            <a:off x="952500" y="47625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מפתח שרת נשמר רק בשרת. אין קריאה לספק בינה מלאכותית בזמן שימוש</a:t>
            </a:r>
          </a:p>
        </p:txBody>
      </p:sp>
      <p:sp>
        <p:nvSpPr>
          <p:cNvPr id="8" name="">
            <a:extLst>
              <a:ext uri="{FF2B5EF4-FFF2-40B4-BE49-F238E27FC236}">
                <a16:creationId xmlns:a16="http://schemas.microsoft.com/office/drawing/2014/main" id="{B5D5B401-C858-4582-AAB3-170AFEAEFFE9}"/>
              </a:ext>
            </a:extLst>
          </p:cNvPr>
          <p:cNvSpPr>
            <a:spLocks noGrp="1"/>
          </p:cNvSpPr>
          <p:nvPr/>
        </p:nvSpPr>
        <p:spPr>
          <a:xfrm>
            <a:off x="952500" y="6096000"/>
            <a:ext cx="10477500" cy="333375"/>
          </a:xfrm>
          <a:prstGeom prst="rect">
            <a:avLst/>
          </a:prstGeom>
          <a:noFill/>
          <a:ln w="0">
            <a:noFill/>
          </a:ln>
        </p:spPr>
        <p:txBody>
          <a:bodyPr lIns="0" tIns="0" rIns="0" bIns="0" anchor="ctr">
            <a:noAutofit/>
          </a:bodyPr>
          <a:lstStyle>
            <a:defPPr rtl="1" algn="r">
              <a:defRPr lang="he-IL"/>
            </a:defPPr>
          </a:lstStyle>
          <a:p>
            <a:pPr algn="r" rtl="1">
              <a:defRPr sz="1725" b="0" lang="he-IL">
                <a:solidFill>
                  <a:srgbClr val="2C8A4B"/>
                </a:solidFill>
                <a:latin typeface="Arial"/>
                <a:ea typeface="Arial"/>
                <a:cs typeface="Arial"/>
              </a:defRPr>
            </a:pPr>
            <a:r>
              <a:rPr sz="1725" b="0" lang="he-IL">
                <a:solidFill>
                  <a:srgbClr val="2C8A4B"/>
                </a:solidFill>
                <a:latin typeface="Arial"/>
                <a:ea typeface="Arial"/>
                <a:cs typeface="Arial"/>
                <a:hlinkClick xmlns:ns0="http://schemas.openxmlformats.org/officeDocument/2006/relationships" ns0:id="rIdLink2"/>
              </a:rPr>
              <a:t xml:space="preserve">פתיחת מסמך הדרישות</a:t>
            </a:r>
          </a:p>
        </p:txBody>
      </p:sp>
      <p:sp>
        <p:nvSpPr>
          <p:cNvPr id="9" name="">
            <a:extLst>
              <a:ext uri="{FF2B5EF4-FFF2-40B4-BE49-F238E27FC236}">
                <a16:creationId xmlns:a16="http://schemas.microsoft.com/office/drawing/2014/main" id="{D683C5C1-0C16-4D9C-B3A9-DDEAA1D996A2}"/>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03</a:t>
            </a:r>
          </a:p>
        </p:txBody>
      </p:sp>
    </p:spTree>
    <p:extLst>
      <p:ext uri="{BB962C8B-B14F-4D97-AF65-F5344CB8AC3E}">
        <p14:creationId xmlns:p14="http://schemas.microsoft.com/office/powerpoint/2010/main" val="1285858525"/>
      </p:ext>
    </p:extLst>
  </p:cSld>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4F1"/>
        </a:solidFill>
      </p:bgPr>
    </p:bg>
    <p:spTree>
      <p:nvGrpSpPr>
        <p:cNvPr id="1" name=""/>
        <p:cNvGrpSpPr/>
        <p:nvPr/>
      </p:nvGrpSpPr>
      <p:grpSpPr>
        <a:xfrm/>
      </p:grpSpPr>
      <p:sp>
        <p:nvSpPr>
          <p:cNvPr id="12" name="">
            <a:extLst>
              <a:ext uri="{FF2B5EF4-FFF2-40B4-BE49-F238E27FC236}">
                <a16:creationId xmlns:a16="http://schemas.microsoft.com/office/drawing/2014/main" id="{5F2F1348-6F0A-4EEE-A77C-52574D86650B}"/>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יום בחיי המאמן והמתאמנת</a:t>
            </a:r>
          </a:p>
        </p:txBody>
      </p:sp>
      <p:pic>
        <p:nvPicPr>
          <p:cNvPr id="13" name=""/>
          <p:cNvPicPr>
            <a:picLocks noChangeAspect="1"/>
          </p:cNvPicPr>
          <p:nvPr/>
        </p:nvPicPr>
        <p:blipFill>
          <a:blip r:embed="R9ade1088e23e46a8"/>
          <a:stretch/>
        </p:blipFill>
        <p:spPr>
          <a:xfrm>
            <a:off x="1344824" y="1685925"/>
            <a:ext cx="1920452" cy="4019550"/>
          </a:xfrm>
          <a:prstGeom prst="rect">
            <a:avLst/>
          </a:prstGeom>
        </p:spPr>
      </p:pic>
      <p:sp>
        <p:nvSpPr>
          <p:cNvPr id="3" name="">
            <a:extLst>
              <a:ext uri="{FF2B5EF4-FFF2-40B4-BE49-F238E27FC236}">
                <a16:creationId xmlns:a16="http://schemas.microsoft.com/office/drawing/2014/main" id="{0EE7F5D3-F165-40C2-BDC0-B34A514B043D}"/>
              </a:ext>
            </a:extLst>
          </p:cNvPr>
          <p:cNvSpPr>
            <a:spLocks noGrp="1"/>
          </p:cNvSpPr>
          <p:nvPr/>
        </p:nvSpPr>
        <p:spPr>
          <a:xfrm>
            <a:off x="523875" y="1257300"/>
            <a:ext cx="3524250" cy="381000"/>
          </a:xfrm>
          <a:prstGeom prst="rect">
            <a:avLst/>
          </a:prstGeom>
          <a:noFill/>
          <a:ln w="0">
            <a:noFill/>
          </a:ln>
        </p:spPr>
        <p:txBody>
          <a:bodyPr lIns="0" tIns="0" rIns="0" bIns="0" anchor="ctr">
            <a:noAutofit/>
          </a:bodyPr>
          <a:lstStyle>
            <a:defPPr rtl="1" algn="r">
              <a:defRPr lang="he-IL"/>
            </a:defPPr>
          </a:lstStyle>
          <a:p>
            <a:pPr algn="r" rtl="1">
              <a:defRPr sz="1800" b="1" lang="he-IL">
                <a:solidFill>
                  <a:srgbClr val="2C8A4B"/>
                </a:solidFill>
                <a:latin typeface="Arial"/>
                <a:ea typeface="Arial"/>
                <a:cs typeface="Arial"/>
              </a:defRPr>
            </a:pPr>
            <a:r>
              <a:rPr sz="1800" b="1" lang="he-IL">
                <a:solidFill>
                  <a:srgbClr val="2C8A4B"/>
                </a:solidFill>
                <a:latin typeface="Arial"/>
                <a:ea typeface="Arial"/>
                <a:cs typeface="Arial"/>
              </a:rPr>
              <a:t xml:space="preserve">המאמן רואה את הביצוע</a:t>
            </a:r>
          </a:p>
        </p:txBody>
      </p:sp>
      <p:pic>
        <p:nvPicPr>
          <p:cNvPr id="15" name=""/>
          <p:cNvPicPr>
            <a:picLocks noChangeAspect="1"/>
          </p:cNvPicPr>
          <p:nvPr/>
        </p:nvPicPr>
        <p:blipFill>
          <a:blip r:embed="Rb57708b736f04e8c"/>
          <a:stretch/>
        </p:blipFill>
        <p:spPr>
          <a:xfrm>
            <a:off x="5126249" y="1685925"/>
            <a:ext cx="1920452" cy="4019550"/>
          </a:xfrm>
          <a:prstGeom prst="rect">
            <a:avLst/>
          </a:prstGeom>
        </p:spPr>
      </p:pic>
      <p:sp>
        <p:nvSpPr>
          <p:cNvPr id="5" name="">
            <a:extLst>
              <a:ext uri="{FF2B5EF4-FFF2-40B4-BE49-F238E27FC236}">
                <a16:creationId xmlns:a16="http://schemas.microsoft.com/office/drawing/2014/main" id="{00790EB9-9FC2-4EDF-8053-CF5A20AB7A6F}"/>
              </a:ext>
            </a:extLst>
          </p:cNvPr>
          <p:cNvSpPr>
            <a:spLocks noGrp="1"/>
          </p:cNvSpPr>
          <p:nvPr/>
        </p:nvSpPr>
        <p:spPr>
          <a:xfrm>
            <a:off x="4305300" y="1257300"/>
            <a:ext cx="3524250" cy="381000"/>
          </a:xfrm>
          <a:prstGeom prst="rect">
            <a:avLst/>
          </a:prstGeom>
          <a:noFill/>
          <a:ln w="0">
            <a:noFill/>
          </a:ln>
        </p:spPr>
        <p:txBody>
          <a:bodyPr lIns="0" tIns="0" rIns="0" bIns="0" anchor="ctr">
            <a:noAutofit/>
          </a:bodyPr>
          <a:lstStyle>
            <a:defPPr rtl="1" algn="r">
              <a:defRPr lang="he-IL"/>
            </a:defPPr>
          </a:lstStyle>
          <a:p>
            <a:pPr algn="r" rtl="1">
              <a:defRPr sz="1800" b="1" lang="he-IL">
                <a:solidFill>
                  <a:srgbClr val="2C8A4B"/>
                </a:solidFill>
                <a:latin typeface="Arial"/>
                <a:ea typeface="Arial"/>
                <a:cs typeface="Arial"/>
              </a:defRPr>
            </a:pPr>
            <a:r>
              <a:rPr sz="1800" b="1" lang="he-IL">
                <a:solidFill>
                  <a:srgbClr val="2C8A4B"/>
                </a:solidFill>
                <a:latin typeface="Arial"/>
                <a:ea typeface="Arial"/>
                <a:cs typeface="Arial"/>
              </a:rPr>
              <a:t xml:space="preserve">המתאמנת מדווחת תוצאה</a:t>
            </a:r>
          </a:p>
        </p:txBody>
      </p:sp>
      <p:pic>
        <p:nvPicPr>
          <p:cNvPr id="17" name=""/>
          <p:cNvPicPr>
            <a:picLocks noChangeAspect="1"/>
          </p:cNvPicPr>
          <p:nvPr/>
        </p:nvPicPr>
        <p:blipFill>
          <a:blip r:embed="R642abbb039fb477f"/>
          <a:stretch/>
        </p:blipFill>
        <p:spPr>
          <a:xfrm>
            <a:off x="8907674" y="1685925"/>
            <a:ext cx="1920452" cy="4019550"/>
          </a:xfrm>
          <a:prstGeom prst="rect">
            <a:avLst/>
          </a:prstGeom>
        </p:spPr>
      </p:pic>
      <p:sp>
        <p:nvSpPr>
          <p:cNvPr id="7" name="">
            <a:extLst>
              <a:ext uri="{FF2B5EF4-FFF2-40B4-BE49-F238E27FC236}">
                <a16:creationId xmlns:a16="http://schemas.microsoft.com/office/drawing/2014/main" id="{742488ED-E4AF-4497-A18F-C77859F4A4C6}"/>
              </a:ext>
            </a:extLst>
          </p:cNvPr>
          <p:cNvSpPr>
            <a:spLocks noGrp="1"/>
          </p:cNvSpPr>
          <p:nvPr/>
        </p:nvSpPr>
        <p:spPr>
          <a:xfrm>
            <a:off x="8086725" y="1257300"/>
            <a:ext cx="3524250" cy="381000"/>
          </a:xfrm>
          <a:prstGeom prst="rect">
            <a:avLst/>
          </a:prstGeom>
          <a:noFill/>
          <a:ln w="0">
            <a:noFill/>
          </a:ln>
        </p:spPr>
        <p:txBody>
          <a:bodyPr lIns="0" tIns="0" rIns="0" bIns="0" anchor="ctr">
            <a:noAutofit/>
          </a:bodyPr>
          <a:lstStyle>
            <a:defPPr rtl="1" algn="r">
              <a:defRPr lang="he-IL"/>
            </a:defPPr>
          </a:lstStyle>
          <a:p>
            <a:pPr algn="r" rtl="1">
              <a:defRPr sz="1800" b="1" lang="he-IL">
                <a:solidFill>
                  <a:srgbClr val="2C8A4B"/>
                </a:solidFill>
                <a:latin typeface="Arial"/>
                <a:ea typeface="Arial"/>
                <a:cs typeface="Arial"/>
              </a:defRPr>
            </a:pPr>
            <a:r>
              <a:rPr sz="1800" b="1" lang="he-IL">
                <a:solidFill>
                  <a:srgbClr val="2C8A4B"/>
                </a:solidFill>
                <a:latin typeface="Arial"/>
                <a:ea typeface="Arial"/>
                <a:cs typeface="Arial"/>
              </a:rPr>
              <a:t xml:space="preserve">המאמן מעדכן תוכנית</a:t>
            </a:r>
          </a:p>
        </p:txBody>
      </p:sp>
      <p:sp>
        <p:nvSpPr>
          <p:cNvPr id="8" name="">
            <a:extLst>
              <a:ext uri="{FF2B5EF4-FFF2-40B4-BE49-F238E27FC236}">
                <a16:creationId xmlns:a16="http://schemas.microsoft.com/office/drawing/2014/main" id="{2AEBB525-6CBF-403E-992C-F77DBE66B780}"/>
              </a:ext>
            </a:extLst>
          </p:cNvPr>
          <p:cNvSpPr>
            <a:spLocks noGrp="1"/>
          </p:cNvSpPr>
          <p:nvPr/>
        </p:nvSpPr>
        <p:spPr>
          <a:xfrm>
            <a:off x="666750" y="5810250"/>
            <a:ext cx="10858500" cy="342900"/>
          </a:xfrm>
          <a:prstGeom prst="rect">
            <a:avLst/>
          </a:prstGeom>
          <a:noFill/>
          <a:ln w="0">
            <a:noFill/>
          </a:ln>
        </p:spPr>
        <p:txBody>
          <a:bodyPr lIns="0" tIns="0" rIns="0" bIns="0" anchor="ctr">
            <a:noAutofit/>
          </a:bodyPr>
          <a:lstStyle>
            <a:defPPr rtl="1" algn="r">
              <a:defRPr lang="he-IL"/>
            </a:defPPr>
          </a:lstStyle>
          <a:p>
            <a:pPr algn="r" rtl="1">
              <a:defRPr sz="1725" b="0" lang="he-IL">
                <a:solidFill>
                  <a:srgbClr val="13261A"/>
                </a:solidFill>
                <a:latin typeface="Arial"/>
                <a:ea typeface="Arial"/>
                <a:cs typeface="Arial"/>
              </a:defRPr>
            </a:pPr>
            <a:r>
              <a:rPr sz="1725" b="0" lang="he-IL">
                <a:solidFill>
                  <a:srgbClr val="13261A"/>
                </a:solidFill>
                <a:latin typeface="Arial"/>
                <a:ea typeface="Arial"/>
                <a:cs typeface="Arial"/>
              </a:rPr>
              <a:t xml:space="preserve">הדגמה מקומית על נתוני דוגמה • המעבר בין תפקידים באותה לשונית</a:t>
            </a:r>
          </a:p>
        </p:txBody>
      </p:sp>
      <p:sp>
        <p:nvSpPr>
          <p:cNvPr id="9" name="">
            <a:extLst>
              <a:ext uri="{FF2B5EF4-FFF2-40B4-BE49-F238E27FC236}">
                <a16:creationId xmlns:a16="http://schemas.microsoft.com/office/drawing/2014/main" id="{01F7F921-57AE-456E-B782-BC5EE7D357D9}"/>
              </a:ext>
            </a:extLst>
          </p:cNvPr>
          <p:cNvSpPr>
            <a:spLocks noGrp="1"/>
          </p:cNvSpPr>
          <p:nvPr/>
        </p:nvSpPr>
        <p:spPr>
          <a:xfrm>
            <a:off x="8096250" y="6315075"/>
            <a:ext cx="3333750" cy="304800"/>
          </a:xfrm>
          <a:prstGeom prst="rect">
            <a:avLst/>
          </a:prstGeom>
          <a:noFill/>
          <a:ln w="0">
            <a:noFill/>
          </a:ln>
        </p:spPr>
        <p:txBody>
          <a:bodyPr lIns="0" tIns="0" rIns="0" bIns="0" anchor="ctr">
            <a:noAutofit/>
          </a:bodyPr>
          <a:lstStyle>
            <a:defPPr rtl="1" algn="r">
              <a:defRPr lang="he-IL"/>
            </a:defPPr>
          </a:lstStyle>
          <a:p>
            <a:pPr algn="r" rtl="1">
              <a:defRPr sz="1650" b="0" lang="he-IL">
                <a:solidFill>
                  <a:srgbClr val="2C8A4B"/>
                </a:solidFill>
                <a:latin typeface="Arial"/>
                <a:ea typeface="Arial"/>
                <a:cs typeface="Arial"/>
              </a:defRPr>
            </a:pPr>
            <a:r>
              <a:rPr sz="1650" b="0" lang="he-IL">
                <a:solidFill>
                  <a:srgbClr val="2C8A4B"/>
                </a:solidFill>
                <a:latin typeface="Arial"/>
                <a:ea typeface="Arial"/>
                <a:cs typeface="Arial"/>
                <a:hlinkClick r:id="rIdLink5"/>
              </a:rPr>
              <a:t xml:space="preserve">פתיחת ההדגמה</a:t>
            </a:r>
          </a:p>
        </p:txBody>
      </p:sp>
      <p:sp>
        <p:nvSpPr>
          <p:cNvPr id="10" name="">
            <a:extLst>
              <a:ext uri="{FF2B5EF4-FFF2-40B4-BE49-F238E27FC236}">
                <a16:creationId xmlns:a16="http://schemas.microsoft.com/office/drawing/2014/main" id="{7F1B855F-3609-42A8-BE48-A0D2A1010AA7}"/>
              </a:ext>
            </a:extLst>
          </p:cNvPr>
          <p:cNvSpPr>
            <a:spLocks noGrp="1"/>
          </p:cNvSpPr>
          <p:nvPr/>
        </p:nvSpPr>
        <p:spPr>
          <a:xfrm>
            <a:off x="4191000" y="6315075"/>
            <a:ext cx="3333750" cy="304800"/>
          </a:xfrm>
          <a:prstGeom prst="rect">
            <a:avLst/>
          </a:prstGeom>
          <a:noFill/>
          <a:ln w="0">
            <a:noFill/>
          </a:ln>
        </p:spPr>
        <p:txBody>
          <a:bodyPr lIns="0" tIns="0" rIns="0" bIns="0" anchor="ctr">
            <a:noAutofit/>
          </a:bodyPr>
          <a:lstStyle>
            <a:defPPr rtl="1" algn="r">
              <a:defRPr lang="he-IL"/>
            </a:defPPr>
          </a:lstStyle>
          <a:p>
            <a:pPr algn="r" rtl="1">
              <a:defRPr sz="1650" b="0" lang="he-IL">
                <a:solidFill>
                  <a:srgbClr val="2C8A4B"/>
                </a:solidFill>
                <a:latin typeface="Arial"/>
                <a:ea typeface="Arial"/>
                <a:cs typeface="Arial"/>
              </a:defRPr>
            </a:pPr>
            <a:r>
              <a:rPr sz="1650" b="0" lang="he-IL">
                <a:solidFill>
                  <a:srgbClr val="2C8A4B"/>
                </a:solidFill>
                <a:latin typeface="Arial"/>
                <a:ea typeface="Arial"/>
                <a:cs typeface="Arial"/>
                <a:hlinkClick r:id="rIdLink6"/>
              </a:rPr>
              <a:t xml:space="preserve">סרטון גיבוי</a:t>
            </a:r>
          </a:p>
        </p:txBody>
      </p:sp>
      <p:sp>
        <p:nvSpPr>
          <p:cNvPr id="11" name="">
            <a:extLst>
              <a:ext uri="{FF2B5EF4-FFF2-40B4-BE49-F238E27FC236}">
                <a16:creationId xmlns:a16="http://schemas.microsoft.com/office/drawing/2014/main" id="{2949D14F-D8FB-40D2-B024-74906D2014CE}"/>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04</a:t>
            </a:r>
          </a:p>
        </p:txBody>
      </p:sp>
    </p:spTree>
    <p:extLst>
      <p:ext uri="{BB962C8B-B14F-4D97-AF65-F5344CB8AC3E}">
        <p14:creationId xmlns:p14="http://schemas.microsoft.com/office/powerpoint/2010/main" val="811608097"/>
      </p:ext>
    </p:extLst>
  </p:cSld>
</p:sld>
</file>

<file path=ppt/slides/slide5.xml><?xml version="1.0" encoding="utf-8"?>
<p:sld xmlns:p="http://schemas.openxmlformats.org/presentationml/2006/main" xmlns:a="http://schemas.openxmlformats.org/drawingml/2006/main">
  <p:cSld>
    <p:bg>
      <p:bgPr>
        <a:solidFill>
          <a:srgbClr val="F4F4F1"/>
        </a:solidFill>
      </p:bgPr>
    </p:bg>
    <p:spTree>
      <p:nvGrpSpPr>
        <p:cNvPr id="1" name=""/>
        <p:cNvGrpSpPr/>
        <p:nvPr/>
      </p:nvGrpSpPr>
      <p:grpSpPr>
        <a:xfrm/>
      </p:grpSpPr>
      <p:sp>
        <p:nvSpPr>
          <p:cNvPr id="10" name="">
            <a:extLst>
              <a:ext uri="{FF2B5EF4-FFF2-40B4-BE49-F238E27FC236}">
                <a16:creationId xmlns:a16="http://schemas.microsoft.com/office/drawing/2014/main" id="{FA05EEB4-8367-43EC-959F-2CCC21133889}"/>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מה עובד ומה עוד נדרש</a:t>
            </a:r>
          </a:p>
        </p:txBody>
      </p:sp>
      <p:sp>
        <p:nvSpPr>
          <p:cNvPr id="2" name="">
            <a:extLst>
              <a:ext uri="{FF2B5EF4-FFF2-40B4-BE49-F238E27FC236}">
                <a16:creationId xmlns:a16="http://schemas.microsoft.com/office/drawing/2014/main" id="{B9462833-3B75-4D82-A2F9-179B4F563C1C}"/>
              </a:ext>
            </a:extLst>
          </p:cNvPr>
          <p:cNvSpPr>
            <a:spLocks noGrp="1"/>
          </p:cNvSpPr>
          <p:nvPr/>
        </p:nvSpPr>
        <p:spPr>
          <a:xfrm>
            <a:off x="952500" y="14763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קיים ונבדק</a:t>
            </a:r>
          </a:p>
        </p:txBody>
      </p:sp>
      <p:sp>
        <p:nvSpPr>
          <p:cNvPr id="3" name="">
            <a:extLst>
              <a:ext uri="{FF2B5EF4-FFF2-40B4-BE49-F238E27FC236}">
                <a16:creationId xmlns:a16="http://schemas.microsoft.com/office/drawing/2014/main" id="{4D51AF25-F6EE-4C7D-BEA7-75591B04B1B4}"/>
              </a:ext>
            </a:extLst>
          </p:cNvPr>
          <p:cNvSpPr>
            <a:spLocks noGrp="1"/>
          </p:cNvSpPr>
          <p:nvPr/>
        </p:nvSpPr>
        <p:spPr>
          <a:xfrm>
            <a:off x="952500" y="19050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תוכניות, תרגילים ותוצאות בשרת. קיים דוח סגירה לשלב ארבע א׳</a:t>
            </a:r>
          </a:p>
        </p:txBody>
      </p:sp>
      <p:sp>
        <p:nvSpPr>
          <p:cNvPr id="4" name="">
            <a:extLst>
              <a:ext uri="{FF2B5EF4-FFF2-40B4-BE49-F238E27FC236}">
                <a16:creationId xmlns:a16="http://schemas.microsoft.com/office/drawing/2014/main" id="{7E6C0EAD-3B90-43B6-9BE9-94835E958F5E}"/>
              </a:ext>
            </a:extLst>
          </p:cNvPr>
          <p:cNvSpPr>
            <a:spLocks noGrp="1"/>
          </p:cNvSpPr>
          <p:nvPr/>
        </p:nvSpPr>
        <p:spPr>
          <a:xfrm>
            <a:off x="952500" y="290512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בהשלמה</a:t>
            </a:r>
          </a:p>
        </p:txBody>
      </p:sp>
      <p:sp>
        <p:nvSpPr>
          <p:cNvPr id="5" name="">
            <a:extLst>
              <a:ext uri="{FF2B5EF4-FFF2-40B4-BE49-F238E27FC236}">
                <a16:creationId xmlns:a16="http://schemas.microsoft.com/office/drawing/2014/main" id="{66293170-D56E-48E9-8340-D94B783BD040}"/>
              </a:ext>
            </a:extLst>
          </p:cNvPr>
          <p:cNvSpPr>
            <a:spLocks noGrp="1"/>
          </p:cNvSpPr>
          <p:nvPr/>
        </p:nvSpPr>
        <p:spPr>
          <a:xfrm>
            <a:off x="952500" y="333375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כניסת מתאמן לענן, ממשקים, שיעורים ותשלומים. סגירת שלב ארבע ב׳</a:t>
            </a:r>
          </a:p>
        </p:txBody>
      </p:sp>
      <p:sp>
        <p:nvSpPr>
          <p:cNvPr id="6" name="">
            <a:extLst>
              <a:ext uri="{FF2B5EF4-FFF2-40B4-BE49-F238E27FC236}">
                <a16:creationId xmlns:a16="http://schemas.microsoft.com/office/drawing/2014/main" id="{438C49CA-BABA-4B1F-932F-E817F385FB2A}"/>
              </a:ext>
            </a:extLst>
          </p:cNvPr>
          <p:cNvSpPr>
            <a:spLocks noGrp="1"/>
          </p:cNvSpPr>
          <p:nvPr/>
        </p:nvSpPr>
        <p:spPr>
          <a:xfrm>
            <a:off x="952500" y="43338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עוד לא הוכח</a:t>
            </a:r>
          </a:p>
        </p:txBody>
      </p:sp>
      <p:sp>
        <p:nvSpPr>
          <p:cNvPr id="7" name="">
            <a:extLst>
              <a:ext uri="{FF2B5EF4-FFF2-40B4-BE49-F238E27FC236}">
                <a16:creationId xmlns:a16="http://schemas.microsoft.com/office/drawing/2014/main" id="{2D488C80-7562-4DF9-8AEE-E7917149B5B4}"/>
              </a:ext>
            </a:extLst>
          </p:cNvPr>
          <p:cNvSpPr>
            <a:spLocks noGrp="1"/>
          </p:cNvSpPr>
          <p:nvPr/>
        </p:nvSpPr>
        <p:spPr>
          <a:xfrm>
            <a:off x="952500" y="47625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אימות עם משתמשים, חיסכון בזמן ושינוי בנטישה</a:t>
            </a:r>
          </a:p>
        </p:txBody>
      </p:sp>
      <p:sp>
        <p:nvSpPr>
          <p:cNvPr id="8" name="">
            <a:extLst>
              <a:ext uri="{FF2B5EF4-FFF2-40B4-BE49-F238E27FC236}">
                <a16:creationId xmlns:a16="http://schemas.microsoft.com/office/drawing/2014/main" id="{A44801A1-11C6-4439-969C-A91C1625EADF}"/>
              </a:ext>
            </a:extLst>
          </p:cNvPr>
          <p:cNvSpPr>
            <a:spLocks noGrp="1"/>
          </p:cNvSpPr>
          <p:nvPr/>
        </p:nvSpPr>
        <p:spPr>
          <a:xfrm>
            <a:off x="952500" y="6096000"/>
            <a:ext cx="10477500" cy="323850"/>
          </a:xfrm>
          <a:prstGeom prst="rect">
            <a:avLst/>
          </a:prstGeom>
          <a:noFill/>
          <a:ln w="0">
            <a:noFill/>
          </a:ln>
        </p:spPr>
        <p:txBody>
          <a:bodyPr lIns="0" tIns="0" rIns="0" bIns="0" anchor="ctr">
            <a:noAutofit/>
          </a:bodyPr>
          <a:lstStyle>
            <a:defPPr rtl="1" algn="r">
              <a:defRPr lang="he-IL"/>
            </a:defPPr>
          </a:lstStyle>
          <a:p>
            <a:pPr algn="r" rtl="1">
              <a:defRPr sz="1875" b="1" lang="he-IL">
                <a:solidFill>
                  <a:srgbClr val="2C8A4B"/>
                </a:solidFill>
                <a:latin typeface="Arial"/>
                <a:ea typeface="Arial"/>
                <a:cs typeface="Arial"/>
              </a:defRPr>
            </a:pPr>
            <a:r>
              <a:rPr sz="1875" b="1" lang="he-IL">
                <a:solidFill>
                  <a:srgbClr val="2C8A4B"/>
                </a:solidFill>
                <a:latin typeface="Arial"/>
                <a:ea typeface="Arial"/>
                <a:cs typeface="Arial"/>
              </a:rPr>
              <a:t xml:space="preserve">בגרסה הנוכחית אין בינה מלאכותית בזמן ריצה</a:t>
            </a:r>
          </a:p>
        </p:txBody>
      </p:sp>
      <p:sp>
        <p:nvSpPr>
          <p:cNvPr id="9" name="">
            <a:extLst>
              <a:ext uri="{FF2B5EF4-FFF2-40B4-BE49-F238E27FC236}">
                <a16:creationId xmlns:a16="http://schemas.microsoft.com/office/drawing/2014/main" id="{407471D6-9D0E-4AF3-99E0-4AEB1F9B7B89}"/>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05</a:t>
            </a:r>
          </a:p>
        </p:txBody>
      </p:sp>
    </p:spTree>
    <p:extLst>
      <p:ext uri="{BB962C8B-B14F-4D97-AF65-F5344CB8AC3E}">
        <p14:creationId xmlns:p14="http://schemas.microsoft.com/office/powerpoint/2010/main" val="1265228142"/>
      </p:ext>
    </p:extLst>
  </p:cSld>
</p:sld>
</file>

<file path=ppt/slides/slide6.xml><?xml version="1.0" encoding="utf-8"?>
<p:sld xmlns:p="http://schemas.openxmlformats.org/presentationml/2006/main" xmlns:a="http://schemas.openxmlformats.org/drawingml/2006/main">
  <p:cSld>
    <p:bg>
      <p:bgPr>
        <a:solidFill>
          <a:srgbClr val="F4F4F1"/>
        </a:solidFill>
      </p:bgPr>
    </p:bg>
    <p:spTree>
      <p:nvGrpSpPr>
        <p:cNvPr id="1" name=""/>
        <p:cNvGrpSpPr/>
        <p:nvPr/>
      </p:nvGrpSpPr>
      <p:grpSpPr>
        <a:xfrm/>
      </p:grpSpPr>
      <p:sp>
        <p:nvSpPr>
          <p:cNvPr id="9" name="">
            <a:extLst>
              <a:ext uri="{FF2B5EF4-FFF2-40B4-BE49-F238E27FC236}">
                <a16:creationId xmlns:a16="http://schemas.microsoft.com/office/drawing/2014/main" id="{1D30E145-66F7-41DC-AFBE-18AD48261D78}"/>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שלוש יכולות שאני מביא לארגון</a:t>
            </a:r>
          </a:p>
        </p:txBody>
      </p:sp>
      <p:sp>
        <p:nvSpPr>
          <p:cNvPr id="2" name="">
            <a:extLst>
              <a:ext uri="{FF2B5EF4-FFF2-40B4-BE49-F238E27FC236}">
                <a16:creationId xmlns:a16="http://schemas.microsoft.com/office/drawing/2014/main" id="{045A80F7-4F40-4884-A189-CC190A7E321E}"/>
              </a:ext>
            </a:extLst>
          </p:cNvPr>
          <p:cNvSpPr>
            <a:spLocks noGrp="1"/>
          </p:cNvSpPr>
          <p:nvPr/>
        </p:nvSpPr>
        <p:spPr>
          <a:xfrm>
            <a:off x="952500" y="14763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להפוך צורך למוצר</a:t>
            </a:r>
          </a:p>
        </p:txBody>
      </p:sp>
      <p:sp>
        <p:nvSpPr>
          <p:cNvPr id="3" name="">
            <a:extLst>
              <a:ext uri="{FF2B5EF4-FFF2-40B4-BE49-F238E27FC236}">
                <a16:creationId xmlns:a16="http://schemas.microsoft.com/office/drawing/2014/main" id="{A90EE0DB-7FAD-4972-B059-E4B9FF8EA1E6}"/>
              </a:ext>
            </a:extLst>
          </p:cNvPr>
          <p:cNvSpPr>
            <a:spLocks noGrp="1"/>
          </p:cNvSpPr>
          <p:nvPr/>
        </p:nvSpPr>
        <p:spPr>
          <a:xfrm>
            <a:off x="952500" y="1905000"/>
            <a:ext cx="10477500" cy="800100"/>
          </a:xfrm>
          <a:prstGeom prst="rect">
            <a:avLst/>
          </a:prstGeom>
          <a:noFill/>
          <a:ln w="0">
            <a:noFill/>
          </a:ln>
        </p:spPr>
        <p:txBody>
          <a:bodyPr lIns="0" tIns="0" rIns="0" bIns="0" anchor="ctr">
            <a:noAutofit/>
          </a:bodyPr>
          <a:lstStyle>
            <a:defPPr rtl="1" algn="r">
              <a:defRPr lang="he-IL"/>
            </a:defPPr>
          </a:lstStyle>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ראיה: תוכנית, דיווח תוצאה ובקרה</a:t>
            </a:r>
          </a:p>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תובנה: להתחיל מרצף עבודה שלם</a:t>
            </a:r>
          </a:p>
        </p:txBody>
      </p:sp>
      <p:sp>
        <p:nvSpPr>
          <p:cNvPr id="4" name="">
            <a:extLst>
              <a:ext uri="{FF2B5EF4-FFF2-40B4-BE49-F238E27FC236}">
                <a16:creationId xmlns:a16="http://schemas.microsoft.com/office/drawing/2014/main" id="{9097D004-D041-466E-A1E2-A67424ADFFB1}"/>
              </a:ext>
            </a:extLst>
          </p:cNvPr>
          <p:cNvSpPr>
            <a:spLocks noGrp="1"/>
          </p:cNvSpPr>
          <p:nvPr/>
        </p:nvSpPr>
        <p:spPr>
          <a:xfrm>
            <a:off x="952500" y="2914650"/>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לבנות מערכת שאפשר לתחזק</a:t>
            </a:r>
          </a:p>
        </p:txBody>
      </p:sp>
      <p:sp>
        <p:nvSpPr>
          <p:cNvPr id="5" name="">
            <a:extLst>
              <a:ext uri="{FF2B5EF4-FFF2-40B4-BE49-F238E27FC236}">
                <a16:creationId xmlns:a16="http://schemas.microsoft.com/office/drawing/2014/main" id="{BDA5472A-2DA8-4307-868F-2750B7C79771}"/>
              </a:ext>
            </a:extLst>
          </p:cNvPr>
          <p:cNvSpPr>
            <a:spLocks noGrp="1"/>
          </p:cNvSpPr>
          <p:nvPr/>
        </p:nvSpPr>
        <p:spPr>
          <a:xfrm>
            <a:off x="952500" y="3343275"/>
            <a:ext cx="10477500" cy="800100"/>
          </a:xfrm>
          <a:prstGeom prst="rect">
            <a:avLst/>
          </a:prstGeom>
          <a:noFill/>
          <a:ln w="0">
            <a:noFill/>
          </a:ln>
        </p:spPr>
        <p:txBody>
          <a:bodyPr lIns="0" tIns="0" rIns="0" bIns="0" anchor="ctr">
            <a:noAutofit/>
          </a:bodyPr>
          <a:lstStyle>
            <a:defPPr rtl="1" algn="r">
              <a:defRPr lang="he-IL"/>
            </a:defPPr>
          </a:lstStyle>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ראיה: מסמך דרישות, מודולים ורשימת הרשאות</a:t>
            </a:r>
          </a:p>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תובנה: לתעד החלטות כדי לאפשר המשך עבודה</a:t>
            </a:r>
          </a:p>
        </p:txBody>
      </p:sp>
      <p:sp>
        <p:nvSpPr>
          <p:cNvPr id="6" name="">
            <a:extLst>
              <a:ext uri="{FF2B5EF4-FFF2-40B4-BE49-F238E27FC236}">
                <a16:creationId xmlns:a16="http://schemas.microsoft.com/office/drawing/2014/main" id="{E1100AC8-AC39-47CB-8ADB-E04E5FA45732}"/>
              </a:ext>
            </a:extLst>
          </p:cNvPr>
          <p:cNvSpPr>
            <a:spLocks noGrp="1"/>
          </p:cNvSpPr>
          <p:nvPr/>
        </p:nvSpPr>
        <p:spPr>
          <a:xfrm>
            <a:off x="952500" y="435292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להגדיר גבולות ולבדוק כשל</a:t>
            </a:r>
          </a:p>
        </p:txBody>
      </p:sp>
      <p:sp>
        <p:nvSpPr>
          <p:cNvPr id="7" name="">
            <a:extLst>
              <a:ext uri="{FF2B5EF4-FFF2-40B4-BE49-F238E27FC236}">
                <a16:creationId xmlns:a16="http://schemas.microsoft.com/office/drawing/2014/main" id="{DCB4BFDA-FB4D-49E7-B861-218E44CE6686}"/>
              </a:ext>
            </a:extLst>
          </p:cNvPr>
          <p:cNvSpPr>
            <a:spLocks noGrp="1"/>
          </p:cNvSpPr>
          <p:nvPr/>
        </p:nvSpPr>
        <p:spPr>
          <a:xfrm>
            <a:off x="952500" y="4781550"/>
            <a:ext cx="10477500" cy="800100"/>
          </a:xfrm>
          <a:prstGeom prst="rect">
            <a:avLst/>
          </a:prstGeom>
          <a:noFill/>
          <a:ln w="0">
            <a:noFill/>
          </a:ln>
        </p:spPr>
        <p:txBody>
          <a:bodyPr lIns="0" tIns="0" rIns="0" bIns="0" anchor="ctr">
            <a:noAutofit/>
          </a:bodyPr>
          <a:lstStyle>
            <a:defPPr rtl="1" algn="r">
              <a:defRPr lang="he-IL"/>
            </a:defPPr>
          </a:lstStyle>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ראיה: בדיקת קלט ודוחות בדיקה</a:t>
            </a:r>
          </a:p>
          <a:p>
            <a:pPr algn="r" rtl="1">
              <a:defRPr sz="2100" b="0" lang="he-IL">
                <a:solidFill>
                  <a:srgbClr val="13261A"/>
                </a:solidFill>
                <a:latin typeface="Arial"/>
                <a:ea typeface="Arial"/>
                <a:cs typeface="Arial"/>
              </a:defRPr>
            </a:pPr>
            <a:r>
              <a:rPr sz="2100" b="0" lang="he-IL">
                <a:solidFill>
                  <a:srgbClr val="13261A"/>
                </a:solidFill>
                <a:latin typeface="Arial"/>
                <a:ea typeface="Arial"/>
                <a:cs typeface="Arial"/>
              </a:rPr>
              <a:t xml:space="preserve">תובנה: להשתמש בקוד רגיל כשהכללים ידועים</a:t>
            </a:r>
          </a:p>
        </p:txBody>
      </p:sp>
      <p:sp>
        <p:nvSpPr>
          <p:cNvPr id="8" name="">
            <a:extLst>
              <a:ext uri="{FF2B5EF4-FFF2-40B4-BE49-F238E27FC236}">
                <a16:creationId xmlns:a16="http://schemas.microsoft.com/office/drawing/2014/main" id="{BA9466AA-30C4-4F48-91C1-DA7466982A70}"/>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06</a:t>
            </a:r>
          </a:p>
        </p:txBody>
      </p:sp>
    </p:spTree>
    <p:extLst>
      <p:ext uri="{BB962C8B-B14F-4D97-AF65-F5344CB8AC3E}">
        <p14:creationId xmlns:p14="http://schemas.microsoft.com/office/powerpoint/2010/main" val="428378052"/>
      </p:ext>
    </p:extLst>
  </p:cSld>
</p:sld>
</file>

<file path=ppt/slides/slide7.xml><?xml version="1.0" encoding="utf-8"?>
<p:sld xmlns:p="http://schemas.openxmlformats.org/presentationml/2006/main" xmlns:a="http://schemas.openxmlformats.org/drawingml/2006/main">
  <p:cSld>
    <p:bg>
      <p:bgPr>
        <a:solidFill>
          <a:srgbClr val="13261A"/>
        </a:solidFill>
      </p:bgPr>
    </p:bg>
    <p:spTree>
      <p:nvGrpSpPr>
        <p:cNvPr id="1" name=""/>
        <p:cNvGrpSpPr/>
        <p:nvPr/>
      </p:nvGrpSpPr>
      <p:grpSpPr>
        <a:xfrm/>
      </p:grpSpPr>
      <p:sp>
        <p:nvSpPr>
          <p:cNvPr id="4" name="">
            <a:extLst>
              <a:ext uri="{FF2B5EF4-FFF2-40B4-BE49-F238E27FC236}">
                <a16:creationId xmlns:a16="http://schemas.microsoft.com/office/drawing/2014/main" id="{292D0FC8-DC80-4439-BA28-40D2381C4944}"/>
              </a:ext>
            </a:extLst>
          </p:cNvPr>
          <p:cNvSpPr>
            <a:spLocks noGrp="1"/>
          </p:cNvSpPr>
          <p:nvPr/>
        </p:nvSpPr>
        <p:spPr>
          <a:xfrm>
            <a:off x="762000" y="2095500"/>
            <a:ext cx="10668000" cy="1238250"/>
          </a:xfrm>
          <a:prstGeom prst="rect">
            <a:avLst/>
          </a:prstGeom>
          <a:noFill/>
          <a:ln w="0">
            <a:noFill/>
          </a:ln>
        </p:spPr>
        <p:txBody>
          <a:bodyPr lIns="0" tIns="0" rIns="0" bIns="0" anchor="ctr">
            <a:noAutofit/>
          </a:bodyPr>
          <a:lstStyle>
            <a:defPPr rtl="1" algn="r">
              <a:defRPr lang="he-IL"/>
            </a:defPPr>
          </a:lstStyle>
          <a:p>
            <a:pPr algn="r" rtl="1">
              <a:defRPr sz="6750" b="1" lang="he-IL">
                <a:solidFill>
                  <a:srgbClr val="FFFFFF"/>
                </a:solidFill>
                <a:latin typeface="Arial"/>
                <a:ea typeface="Arial"/>
                <a:cs typeface="Arial"/>
              </a:defRPr>
            </a:pPr>
            <a:r>
              <a:rPr sz="6750" b="1" lang="he-IL">
                <a:solidFill>
                  <a:srgbClr val="FFFFFF"/>
                </a:solidFill>
                <a:latin typeface="Arial"/>
                <a:ea typeface="Arial"/>
                <a:cs typeface="Arial"/>
              </a:rPr>
              <a:t xml:space="preserve">שאלות</a:t>
            </a:r>
          </a:p>
        </p:txBody>
      </p:sp>
      <p:sp>
        <p:nvSpPr>
          <p:cNvPr id="2" name="">
            <a:extLst>
              <a:ext uri="{FF2B5EF4-FFF2-40B4-BE49-F238E27FC236}">
                <a16:creationId xmlns:a16="http://schemas.microsoft.com/office/drawing/2014/main" id="{029577A4-EEEA-4D24-9C12-484EA582EF90}"/>
              </a:ext>
            </a:extLst>
          </p:cNvPr>
          <p:cNvSpPr>
            <a:spLocks noGrp="1"/>
          </p:cNvSpPr>
          <p:nvPr/>
        </p:nvSpPr>
        <p:spPr>
          <a:xfrm>
            <a:off x="762000" y="3524250"/>
            <a:ext cx="10668000" cy="571500"/>
          </a:xfrm>
          <a:prstGeom prst="rect">
            <a:avLst/>
          </a:prstGeom>
          <a:noFill/>
          <a:ln w="0">
            <a:noFill/>
          </a:ln>
        </p:spPr>
        <p:txBody>
          <a:bodyPr lIns="0" tIns="0" rIns="0" bIns="0" anchor="ctr">
            <a:noAutofit/>
          </a:bodyPr>
          <a:lstStyle>
            <a:defPPr rtl="1" algn="r">
              <a:defRPr lang="he-IL"/>
            </a:defPPr>
          </a:lstStyle>
          <a:p>
            <a:pPr algn="r" rtl="1">
              <a:defRPr sz="2400" b="0" lang="he-IL">
                <a:solidFill>
                  <a:srgbClr val="C3F03F"/>
                </a:solidFill>
                <a:latin typeface="Arial"/>
                <a:ea typeface="Arial"/>
                <a:cs typeface="Arial"/>
              </a:defRPr>
            </a:pPr>
            <a:r>
              <a:rPr sz="2400" b="0" lang="he-IL">
                <a:solidFill>
                  <a:srgbClr val="C3F03F"/>
                </a:solidFill>
                <a:latin typeface="Arial"/>
                <a:ea typeface="Arial"/>
                <a:cs typeface="Arial"/>
              </a:rPr>
              <a:t xml:space="preserve">שלוש דקות של ראיון</a:t>
            </a:r>
          </a:p>
        </p:txBody>
      </p:sp>
      <p:sp>
        <p:nvSpPr>
          <p:cNvPr id="3" name="">
            <a:extLst>
              <a:ext uri="{FF2B5EF4-FFF2-40B4-BE49-F238E27FC236}">
                <a16:creationId xmlns:a16="http://schemas.microsoft.com/office/drawing/2014/main" id="{970B7F8F-A7BD-4B05-890D-F3F83D01BD36}"/>
              </a:ext>
            </a:extLst>
          </p:cNvPr>
          <p:cNvSpPr>
            <a:spLocks noGrp="1"/>
          </p:cNvSpPr>
          <p:nvPr/>
        </p:nvSpPr>
        <p:spPr>
          <a:xfrm>
            <a:off x="762000" y="4857750"/>
            <a:ext cx="10668000" cy="476250"/>
          </a:xfrm>
          <a:prstGeom prst="rect">
            <a:avLst/>
          </a:prstGeom>
          <a:noFill/>
          <a:ln w="0">
            <a:noFill/>
          </a:ln>
        </p:spPr>
        <p:txBody>
          <a:bodyPr lIns="0" tIns="0" rIns="0" bIns="0" anchor="ctr">
            <a:noAutofit/>
          </a:bodyPr>
          <a:lstStyle>
            <a:defPPr rtl="1" algn="r">
              <a:defRPr lang="he-IL"/>
            </a:defPPr>
          </a:lstStyle>
          <a:p>
            <a:pPr algn="r" rtl="1">
              <a:defRPr sz="2025" b="0" lang="he-IL">
                <a:solidFill>
                  <a:srgbClr val="FFFFFF"/>
                </a:solidFill>
                <a:latin typeface="Arial"/>
                <a:ea typeface="Arial"/>
                <a:cs typeface="Arial"/>
              </a:defRPr>
            </a:pPr>
            <a:r>
              <a:rPr sz="2025" b="0" lang="he-IL">
                <a:solidFill>
                  <a:srgbClr val="FFFFFF"/>
                </a:solidFill>
                <a:latin typeface="Arial"/>
                <a:ea typeface="Arial"/>
                <a:cs typeface="Arial"/>
              </a:rPr>
              <a:t xml:space="preserve">התהליך  ·  המוצר  ·  האחריות על המידע</a:t>
            </a:r>
          </a:p>
        </p:txBody>
      </p:sp>
    </p:spTree>
    <p:extLst>
      <p:ext uri="{BB962C8B-B14F-4D97-AF65-F5344CB8AC3E}">
        <p14:creationId xmlns:p14="http://schemas.microsoft.com/office/powerpoint/2010/main" val="560165094"/>
      </p:ext>
    </p:extLst>
  </p:cSld>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1"/>
        </a:solidFill>
      </p:bgPr>
    </p:bg>
    <p:spTree>
      <p:nvGrpSpPr>
        <p:cNvPr id="1" name=""/>
        <p:cNvGrpSpPr/>
        <p:nvPr/>
      </p:nvGrpSpPr>
      <p:grpSpPr>
        <a:xfrm/>
      </p:grpSpPr>
      <p:sp>
        <p:nvSpPr>
          <p:cNvPr id="10" name="">
            <a:extLst>
              <a:ext uri="{FF2B5EF4-FFF2-40B4-BE49-F238E27FC236}">
                <a16:creationId xmlns:a16="http://schemas.microsoft.com/office/drawing/2014/main" id="{BAF71B4C-B315-46F3-A610-D35FAA4F482C}"/>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נספח: כשל שהמשתמש רואה</a:t>
            </a:r>
          </a:p>
        </p:txBody>
      </p:sp>
      <p:pic>
        <p:nvPicPr>
          <p:cNvPr id="11" name=""/>
          <p:cNvPicPr>
            <a:picLocks noChangeAspect="1"/>
          </p:cNvPicPr>
          <p:nvPr/>
        </p:nvPicPr>
        <p:blipFill>
          <a:blip r:embed="R75c27a04d1d045ba"/>
          <a:stretch/>
        </p:blipFill>
        <p:spPr>
          <a:xfrm>
            <a:off x="910167" y="1476375"/>
            <a:ext cx="2275417" cy="4762500"/>
          </a:xfrm>
          <a:prstGeom prst="rect">
            <a:avLst/>
          </a:prstGeom>
        </p:spPr>
      </p:pic>
      <p:sp>
        <p:nvSpPr>
          <p:cNvPr id="3" name="">
            <a:extLst>
              <a:ext uri="{FF2B5EF4-FFF2-40B4-BE49-F238E27FC236}">
                <a16:creationId xmlns:a16="http://schemas.microsoft.com/office/drawing/2014/main" id="{167E6ABD-F6B0-49DC-9044-6D49C22ECF96}"/>
              </a:ext>
            </a:extLst>
          </p:cNvPr>
          <p:cNvSpPr>
            <a:spLocks noGrp="1"/>
          </p:cNvSpPr>
          <p:nvPr/>
        </p:nvSpPr>
        <p:spPr>
          <a:xfrm>
            <a:off x="3857625" y="1524000"/>
            <a:ext cx="7524750" cy="400050"/>
          </a:xfrm>
          <a:prstGeom prst="rect">
            <a:avLst/>
          </a:prstGeom>
          <a:noFill/>
          <a:ln w="0">
            <a:noFill/>
          </a:ln>
        </p:spPr>
        <p:txBody>
          <a:bodyPr lIns="0" tIns="0" rIns="0" bIns="0" anchor="ctr">
            <a:noAutofit/>
          </a:bodyPr>
          <a:lstStyle>
            <a:defPPr rtl="1" algn="r">
              <a:defRPr lang="he-IL"/>
            </a:defPPr>
          </a:lstStyle>
          <a:p>
            <a:pPr algn="r" rtl="1">
              <a:defRPr sz="2175" b="1" lang="he-IL">
                <a:solidFill>
                  <a:srgbClr val="2C8A4B"/>
                </a:solidFill>
                <a:latin typeface="Arial"/>
                <a:ea typeface="Arial"/>
                <a:cs typeface="Arial"/>
              </a:defRPr>
            </a:pPr>
            <a:r>
              <a:rPr sz="2175" b="1" lang="he-IL">
                <a:solidFill>
                  <a:srgbClr val="2C8A4B"/>
                </a:solidFill>
                <a:latin typeface="Arial"/>
                <a:ea typeface="Arial"/>
                <a:cs typeface="Arial"/>
              </a:rPr>
              <a:t xml:space="preserve">הקלט</a:t>
            </a:r>
          </a:p>
        </p:txBody>
      </p:sp>
      <p:sp>
        <p:nvSpPr>
          <p:cNvPr id="4" name="">
            <a:extLst>
              <a:ext uri="{FF2B5EF4-FFF2-40B4-BE49-F238E27FC236}">
                <a16:creationId xmlns:a16="http://schemas.microsoft.com/office/drawing/2014/main" id="{3AA55A2F-3F18-4980-A2A6-A73807815C06}"/>
              </a:ext>
            </a:extLst>
          </p:cNvPr>
          <p:cNvSpPr>
            <a:spLocks noGrp="1"/>
          </p:cNvSpPr>
          <p:nvPr/>
        </p:nvSpPr>
        <p:spPr>
          <a:xfrm>
            <a:off x="3857625" y="1971675"/>
            <a:ext cx="7524750" cy="600075"/>
          </a:xfrm>
          <a:prstGeom prst="rect">
            <a:avLst/>
          </a:prstGeom>
          <a:noFill/>
          <a:ln w="0">
            <a:noFill/>
          </a:ln>
        </p:spPr>
        <p:txBody>
          <a:bodyPr lIns="0" tIns="0" rIns="0" bIns="0" anchor="ctr">
            <a:noAutofit/>
          </a:bodyPr>
          <a:lstStyle>
            <a:defPPr rtl="1" algn="r">
              <a:defRPr lang="he-IL"/>
            </a:defPPr>
          </a:lstStyle>
          <a:p>
            <a:pPr algn="r" rtl="1">
              <a:defRPr sz="2250" b="0" lang="he-IL">
                <a:solidFill>
                  <a:srgbClr val="13261A"/>
                </a:solidFill>
                <a:latin typeface="Arial"/>
                <a:ea typeface="Arial"/>
                <a:cs typeface="Arial"/>
              </a:defRPr>
            </a:pPr>
            <a:r>
              <a:rPr sz="2250" b="0" lang="he-IL">
                <a:solidFill>
                  <a:srgbClr val="13261A"/>
                </a:solidFill>
                <a:latin typeface="Arial"/>
                <a:ea typeface="Arial"/>
                <a:cs typeface="Arial"/>
              </a:rPr>
              <a:t xml:space="preserve">מספר חזרות שלילי</a:t>
            </a:r>
          </a:p>
        </p:txBody>
      </p:sp>
      <p:sp>
        <p:nvSpPr>
          <p:cNvPr id="5" name="">
            <a:extLst>
              <a:ext uri="{FF2B5EF4-FFF2-40B4-BE49-F238E27FC236}">
                <a16:creationId xmlns:a16="http://schemas.microsoft.com/office/drawing/2014/main" id="{D4F2D1A0-CC79-4A19-A46D-077A63E703CC}"/>
              </a:ext>
            </a:extLst>
          </p:cNvPr>
          <p:cNvSpPr>
            <a:spLocks noGrp="1"/>
          </p:cNvSpPr>
          <p:nvPr/>
        </p:nvSpPr>
        <p:spPr>
          <a:xfrm>
            <a:off x="3857625" y="2838450"/>
            <a:ext cx="7524750" cy="400050"/>
          </a:xfrm>
          <a:prstGeom prst="rect">
            <a:avLst/>
          </a:prstGeom>
          <a:noFill/>
          <a:ln w="0">
            <a:noFill/>
          </a:ln>
        </p:spPr>
        <p:txBody>
          <a:bodyPr lIns="0" tIns="0" rIns="0" bIns="0" anchor="ctr">
            <a:noAutofit/>
          </a:bodyPr>
          <a:lstStyle>
            <a:defPPr rtl="1" algn="r">
              <a:defRPr lang="he-IL"/>
            </a:defPPr>
          </a:lstStyle>
          <a:p>
            <a:pPr algn="r" rtl="1">
              <a:defRPr sz="2175" b="1" lang="he-IL">
                <a:solidFill>
                  <a:srgbClr val="2C8A4B"/>
                </a:solidFill>
                <a:latin typeface="Arial"/>
                <a:ea typeface="Arial"/>
                <a:cs typeface="Arial"/>
              </a:defRPr>
            </a:pPr>
            <a:r>
              <a:rPr sz="2175" b="1" lang="he-IL">
                <a:solidFill>
                  <a:srgbClr val="2C8A4B"/>
                </a:solidFill>
                <a:latin typeface="Arial"/>
                <a:ea typeface="Arial"/>
                <a:cs typeface="Arial"/>
              </a:rPr>
              <a:t xml:space="preserve">מה המשתמש רואה</a:t>
            </a:r>
          </a:p>
        </p:txBody>
      </p:sp>
      <p:sp>
        <p:nvSpPr>
          <p:cNvPr id="6" name="">
            <a:extLst>
              <a:ext uri="{FF2B5EF4-FFF2-40B4-BE49-F238E27FC236}">
                <a16:creationId xmlns:a16="http://schemas.microsoft.com/office/drawing/2014/main" id="{CC232E51-A323-4F1F-AC94-134E58955FCA}"/>
              </a:ext>
            </a:extLst>
          </p:cNvPr>
          <p:cNvSpPr>
            <a:spLocks noGrp="1"/>
          </p:cNvSpPr>
          <p:nvPr/>
        </p:nvSpPr>
        <p:spPr>
          <a:xfrm>
            <a:off x="3857625" y="3286125"/>
            <a:ext cx="7524750" cy="600075"/>
          </a:xfrm>
          <a:prstGeom prst="rect">
            <a:avLst/>
          </a:prstGeom>
          <a:noFill/>
          <a:ln w="0">
            <a:noFill/>
          </a:ln>
        </p:spPr>
        <p:txBody>
          <a:bodyPr lIns="0" tIns="0" rIns="0" bIns="0" anchor="ctr">
            <a:noAutofit/>
          </a:bodyPr>
          <a:lstStyle>
            <a:defPPr rtl="1" algn="r">
              <a:defRPr lang="he-IL"/>
            </a:defPPr>
          </a:lstStyle>
          <a:p>
            <a:pPr algn="r" rtl="1">
              <a:defRPr sz="2250" b="0" lang="he-IL">
                <a:solidFill>
                  <a:srgbClr val="13261A"/>
                </a:solidFill>
                <a:latin typeface="Arial"/>
                <a:ea typeface="Arial"/>
                <a:cs typeface="Arial"/>
              </a:defRPr>
            </a:pPr>
            <a:r>
              <a:rPr sz="2250" b="0" lang="he-IL">
                <a:solidFill>
                  <a:srgbClr val="13261A"/>
                </a:solidFill>
                <a:latin typeface="Arial"/>
                <a:ea typeface="Arial"/>
                <a:cs typeface="Arial"/>
              </a:rPr>
              <a:t xml:space="preserve">״יש ערך לא תקין באחד הסטים״</a:t>
            </a:r>
          </a:p>
        </p:txBody>
      </p:sp>
      <p:sp>
        <p:nvSpPr>
          <p:cNvPr id="7" name="">
            <a:extLst>
              <a:ext uri="{FF2B5EF4-FFF2-40B4-BE49-F238E27FC236}">
                <a16:creationId xmlns:a16="http://schemas.microsoft.com/office/drawing/2014/main" id="{E9AD4EE7-FE60-4268-B2C6-6891047D9F2C}"/>
              </a:ext>
            </a:extLst>
          </p:cNvPr>
          <p:cNvSpPr>
            <a:spLocks noGrp="1"/>
          </p:cNvSpPr>
          <p:nvPr/>
        </p:nvSpPr>
        <p:spPr>
          <a:xfrm>
            <a:off x="3857625" y="4152900"/>
            <a:ext cx="7524750" cy="400050"/>
          </a:xfrm>
          <a:prstGeom prst="rect">
            <a:avLst/>
          </a:prstGeom>
          <a:noFill/>
          <a:ln w="0">
            <a:noFill/>
          </a:ln>
        </p:spPr>
        <p:txBody>
          <a:bodyPr lIns="0" tIns="0" rIns="0" bIns="0" anchor="ctr">
            <a:noAutofit/>
          </a:bodyPr>
          <a:lstStyle>
            <a:defPPr rtl="1" algn="r">
              <a:defRPr lang="he-IL"/>
            </a:defPPr>
          </a:lstStyle>
          <a:p>
            <a:pPr algn="r" rtl="1">
              <a:defRPr sz="2175" b="1" lang="he-IL">
                <a:solidFill>
                  <a:srgbClr val="2C8A4B"/>
                </a:solidFill>
                <a:latin typeface="Arial"/>
                <a:ea typeface="Arial"/>
                <a:cs typeface="Arial"/>
              </a:defRPr>
            </a:pPr>
            <a:r>
              <a:rPr sz="2175" b="1" lang="he-IL">
                <a:solidFill>
                  <a:srgbClr val="2C8A4B"/>
                </a:solidFill>
                <a:latin typeface="Arial"/>
                <a:ea typeface="Arial"/>
                <a:cs typeface="Arial"/>
              </a:rPr>
              <a:t xml:space="preserve">מה עושים</a:t>
            </a:r>
          </a:p>
        </p:txBody>
      </p:sp>
      <p:sp>
        <p:nvSpPr>
          <p:cNvPr id="8" name="">
            <a:extLst>
              <a:ext uri="{FF2B5EF4-FFF2-40B4-BE49-F238E27FC236}">
                <a16:creationId xmlns:a16="http://schemas.microsoft.com/office/drawing/2014/main" id="{1DEBE550-B76A-4618-A28C-D56437BFF349}"/>
              </a:ext>
            </a:extLst>
          </p:cNvPr>
          <p:cNvSpPr>
            <a:spLocks noGrp="1"/>
          </p:cNvSpPr>
          <p:nvPr/>
        </p:nvSpPr>
        <p:spPr>
          <a:xfrm>
            <a:off x="3857625" y="4600575"/>
            <a:ext cx="7524750" cy="600075"/>
          </a:xfrm>
          <a:prstGeom prst="rect">
            <a:avLst/>
          </a:prstGeom>
          <a:noFill/>
          <a:ln w="0">
            <a:noFill/>
          </a:ln>
        </p:spPr>
        <p:txBody>
          <a:bodyPr lIns="0" tIns="0" rIns="0" bIns="0" anchor="ctr">
            <a:noAutofit/>
          </a:bodyPr>
          <a:lstStyle>
            <a:defPPr rtl="1" algn="r">
              <a:defRPr lang="he-IL"/>
            </a:defPPr>
          </a:lstStyle>
          <a:p>
            <a:pPr algn="r" rtl="1">
              <a:defRPr sz="2250" b="0" lang="he-IL">
                <a:solidFill>
                  <a:srgbClr val="13261A"/>
                </a:solidFill>
                <a:latin typeface="Arial"/>
                <a:ea typeface="Arial"/>
                <a:cs typeface="Arial"/>
              </a:defRPr>
            </a:pPr>
            <a:r>
              <a:rPr sz="2250" b="0" lang="he-IL">
                <a:solidFill>
                  <a:srgbClr val="13261A"/>
                </a:solidFill>
                <a:latin typeface="Arial"/>
                <a:ea typeface="Arial"/>
                <a:cs typeface="Arial"/>
              </a:rPr>
              <a:t xml:space="preserve">מתקנים את החזרות ושומרים שוב</a:t>
            </a:r>
          </a:p>
        </p:txBody>
      </p:sp>
      <p:sp>
        <p:nvSpPr>
          <p:cNvPr id="9" name="">
            <a:extLst>
              <a:ext uri="{FF2B5EF4-FFF2-40B4-BE49-F238E27FC236}">
                <a16:creationId xmlns:a16="http://schemas.microsoft.com/office/drawing/2014/main" id="{6D73AFA1-1D11-4762-81D6-BA762D996657}"/>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08</a:t>
            </a:r>
          </a:p>
        </p:txBody>
      </p:sp>
    </p:spTree>
    <p:extLst>
      <p:ext uri="{BB962C8B-B14F-4D97-AF65-F5344CB8AC3E}">
        <p14:creationId xmlns:p14="http://schemas.microsoft.com/office/powerpoint/2010/main" val="2127199883"/>
      </p:ext>
    </p:extLst>
  </p:cSld>
</p:sld>
</file>

<file path=ppt/slides/slide9.xml><?xml version="1.0" encoding="utf-8"?>
<p:sld xmlns:p="http://schemas.openxmlformats.org/presentationml/2006/main" xmlns:a="http://schemas.openxmlformats.org/drawingml/2006/main">
  <p:cSld>
    <p:bg>
      <p:bgPr>
        <a:solidFill>
          <a:srgbClr val="F4F4F1"/>
        </a:solidFill>
      </p:bgPr>
    </p:bg>
    <p:spTree>
      <p:nvGrpSpPr>
        <p:cNvPr id="1" name=""/>
        <p:cNvGrpSpPr/>
        <p:nvPr/>
      </p:nvGrpSpPr>
      <p:grpSpPr>
        <a:xfrm/>
      </p:grpSpPr>
      <p:sp>
        <p:nvSpPr>
          <p:cNvPr id="9" name="">
            <a:extLst>
              <a:ext uri="{FF2B5EF4-FFF2-40B4-BE49-F238E27FC236}">
                <a16:creationId xmlns:a16="http://schemas.microsoft.com/office/drawing/2014/main" id="{587CA618-AD9F-48A3-BE50-63616A50C239}"/>
              </a:ext>
            </a:extLst>
          </p:cNvPr>
          <p:cNvSpPr>
            <a:spLocks noGrp="1"/>
          </p:cNvSpPr>
          <p:nvPr/>
        </p:nvSpPr>
        <p:spPr>
          <a:xfrm>
            <a:off x="666750" y="428625"/>
            <a:ext cx="10858500" cy="809625"/>
          </a:xfrm>
          <a:prstGeom prst="rect">
            <a:avLst/>
          </a:prstGeom>
          <a:noFill/>
          <a:ln w="0">
            <a:noFill/>
          </a:ln>
        </p:spPr>
        <p:txBody>
          <a:bodyPr lIns="0" tIns="0" rIns="0" bIns="0" anchor="ctr">
            <a:noAutofit/>
          </a:bodyPr>
          <a:lstStyle>
            <a:defPPr rtl="1" algn="r">
              <a:defRPr lang="he-IL"/>
            </a:defPPr>
          </a:lstStyle>
          <a:p>
            <a:pPr algn="r" rtl="1">
              <a:defRPr sz="3450" b="1" lang="he-IL">
                <a:solidFill>
                  <a:srgbClr val="13261A"/>
                </a:solidFill>
                <a:latin typeface="Arial"/>
                <a:ea typeface="Arial"/>
                <a:cs typeface="Arial"/>
              </a:defRPr>
            </a:pPr>
            <a:r>
              <a:rPr sz="3450" b="1" lang="he-IL">
                <a:solidFill>
                  <a:srgbClr val="13261A"/>
                </a:solidFill>
                <a:latin typeface="Arial"/>
                <a:ea typeface="Arial"/>
                <a:cs typeface="Arial"/>
              </a:rPr>
              <a:t xml:space="preserve">נספח: מסירה והמשך פיתוח</a:t>
            </a:r>
          </a:p>
        </p:txBody>
      </p:sp>
      <p:sp>
        <p:nvSpPr>
          <p:cNvPr id="2" name="">
            <a:extLst>
              <a:ext uri="{FF2B5EF4-FFF2-40B4-BE49-F238E27FC236}">
                <a16:creationId xmlns:a16="http://schemas.microsoft.com/office/drawing/2014/main" id="{DC7605D6-2195-4545-8859-79308B8164BF}"/>
              </a:ext>
            </a:extLst>
          </p:cNvPr>
          <p:cNvSpPr>
            <a:spLocks noGrp="1"/>
          </p:cNvSpPr>
          <p:nvPr/>
        </p:nvSpPr>
        <p:spPr>
          <a:xfrm>
            <a:off x="952500" y="14763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מי שממשיך פותח</a:t>
            </a:r>
          </a:p>
        </p:txBody>
      </p:sp>
      <p:sp>
        <p:nvSpPr>
          <p:cNvPr id="3" name="">
            <a:extLst>
              <a:ext uri="{FF2B5EF4-FFF2-40B4-BE49-F238E27FC236}">
                <a16:creationId xmlns:a16="http://schemas.microsoft.com/office/drawing/2014/main" id="{07530BFF-0142-41CB-9364-4674C7FFDBB1}"/>
              </a:ext>
            </a:extLst>
          </p:cNvPr>
          <p:cNvSpPr>
            <a:spLocks noGrp="1"/>
          </p:cNvSpPr>
          <p:nvPr/>
        </p:nvSpPr>
        <p:spPr>
          <a:xfrm>
            <a:off x="952500" y="19050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מסמך הדרישות, מפת המודולים, מסמך הבנייה ודוחות הבדיקה</a:t>
            </a:r>
          </a:p>
        </p:txBody>
      </p:sp>
      <p:sp>
        <p:nvSpPr>
          <p:cNvPr id="4" name="">
            <a:extLst>
              <a:ext uri="{FF2B5EF4-FFF2-40B4-BE49-F238E27FC236}">
                <a16:creationId xmlns:a16="http://schemas.microsoft.com/office/drawing/2014/main" id="{50EA0B3A-DC2A-4096-B54D-A6B321C8906A}"/>
              </a:ext>
            </a:extLst>
          </p:cNvPr>
          <p:cNvSpPr>
            <a:spLocks noGrp="1"/>
          </p:cNvSpPr>
          <p:nvPr/>
        </p:nvSpPr>
        <p:spPr>
          <a:xfrm>
            <a:off x="952500" y="290512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מסלול הבקשה</a:t>
            </a:r>
          </a:p>
        </p:txBody>
      </p:sp>
      <p:sp>
        <p:nvSpPr>
          <p:cNvPr id="5" name="">
            <a:extLst>
              <a:ext uri="{FF2B5EF4-FFF2-40B4-BE49-F238E27FC236}">
                <a16:creationId xmlns:a16="http://schemas.microsoft.com/office/drawing/2014/main" id="{4EED0C9B-D5B8-48FF-B393-5E797EA5FF36}"/>
              </a:ext>
            </a:extLst>
          </p:cNvPr>
          <p:cNvSpPr>
            <a:spLocks noGrp="1"/>
          </p:cNvSpPr>
          <p:nvPr/>
        </p:nvSpPr>
        <p:spPr>
          <a:xfrm>
            <a:off x="952500" y="333375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מסך, נקודת כניסה ובדיקת הרשאות, מודול, שכבת נתונים ומסד</a:t>
            </a:r>
          </a:p>
        </p:txBody>
      </p:sp>
      <p:sp>
        <p:nvSpPr>
          <p:cNvPr id="6" name="">
            <a:extLst>
              <a:ext uri="{FF2B5EF4-FFF2-40B4-BE49-F238E27FC236}">
                <a16:creationId xmlns:a16="http://schemas.microsoft.com/office/drawing/2014/main" id="{2AADDF23-FAD0-499E-9594-9AA32158F119}"/>
              </a:ext>
            </a:extLst>
          </p:cNvPr>
          <p:cNvSpPr>
            <a:spLocks noGrp="1"/>
          </p:cNvSpPr>
          <p:nvPr/>
        </p:nvSpPr>
        <p:spPr>
          <a:xfrm>
            <a:off x="952500" y="4333875"/>
            <a:ext cx="10477500" cy="381000"/>
          </a:xfrm>
          <a:prstGeom prst="rect">
            <a:avLst/>
          </a:prstGeom>
          <a:noFill/>
          <a:ln w="0">
            <a:noFill/>
          </a:ln>
        </p:spPr>
        <p:txBody>
          <a:bodyPr lIns="0" tIns="0" rIns="0" bIns="0" anchor="ctr">
            <a:noAutofit/>
          </a:bodyPr>
          <a:lstStyle>
            <a:defPPr rtl="1" algn="r">
              <a:defRPr lang="he-IL"/>
            </a:defPPr>
          </a:lstStyle>
          <a:p>
            <a:pPr algn="r" rtl="1">
              <a:defRPr sz="2250" b="1" lang="he-IL">
                <a:solidFill>
                  <a:srgbClr val="2C8A4B"/>
                </a:solidFill>
                <a:latin typeface="Arial"/>
                <a:ea typeface="Arial"/>
                <a:cs typeface="Arial"/>
              </a:defRPr>
            </a:pPr>
            <a:r>
              <a:rPr sz="2250" b="1" lang="he-IL">
                <a:solidFill>
                  <a:srgbClr val="2C8A4B"/>
                </a:solidFill>
                <a:latin typeface="Arial"/>
                <a:ea typeface="Arial"/>
                <a:cs typeface="Arial"/>
              </a:rPr>
              <a:t xml:space="preserve">החלטה מתועדת</a:t>
            </a:r>
          </a:p>
        </p:txBody>
      </p:sp>
      <p:sp>
        <p:nvSpPr>
          <p:cNvPr id="7" name="">
            <a:extLst>
              <a:ext uri="{FF2B5EF4-FFF2-40B4-BE49-F238E27FC236}">
                <a16:creationId xmlns:a16="http://schemas.microsoft.com/office/drawing/2014/main" id="{ED681059-6423-4FF0-B2A4-6DB64EF9A8BB}"/>
              </a:ext>
            </a:extLst>
          </p:cNvPr>
          <p:cNvSpPr>
            <a:spLocks noGrp="1"/>
          </p:cNvSpPr>
          <p:nvPr/>
        </p:nvSpPr>
        <p:spPr>
          <a:xfrm>
            <a:off x="952500" y="4762500"/>
            <a:ext cx="10477500" cy="800100"/>
          </a:xfrm>
          <a:prstGeom prst="rect">
            <a:avLst/>
          </a:prstGeom>
          <a:noFill/>
          <a:ln w="0">
            <a:noFill/>
          </a:ln>
        </p:spPr>
        <p:txBody>
          <a:bodyPr lIns="0" tIns="0" rIns="0" bIns="0" anchor="ctr">
            <a:noAutofit/>
          </a:bodyPr>
          <a:lstStyle>
            <a:defPPr rtl="1" algn="r">
              <a:defRPr lang="he-IL"/>
            </a:defPPr>
          </a:lstStyle>
          <a:p>
            <a:pPr algn="r" rtl="1">
              <a:defRPr sz="2175" b="0" lang="he-IL">
                <a:solidFill>
                  <a:srgbClr val="13261A"/>
                </a:solidFill>
                <a:latin typeface="Arial"/>
                <a:ea typeface="Arial"/>
                <a:cs typeface="Arial"/>
              </a:defRPr>
            </a:pPr>
            <a:r>
              <a:rPr sz="2175" b="0" lang="he-IL">
                <a:solidFill>
                  <a:srgbClr val="13261A"/>
                </a:solidFill>
                <a:latin typeface="Arial"/>
                <a:ea typeface="Arial"/>
                <a:cs typeface="Arial"/>
              </a:rPr>
              <a:t xml:space="preserve">סליקה בהדגמה בלבד. בינה מלאכותית מחוץ לגרסה הראשונה</a:t>
            </a:r>
          </a:p>
        </p:txBody>
      </p:sp>
      <p:sp>
        <p:nvSpPr>
          <p:cNvPr id="8" name="">
            <a:extLst>
              <a:ext uri="{FF2B5EF4-FFF2-40B4-BE49-F238E27FC236}">
                <a16:creationId xmlns:a16="http://schemas.microsoft.com/office/drawing/2014/main" id="{55013E00-B6B6-4F90-A7A0-BDC1CD09BC1F}"/>
              </a:ext>
            </a:extLst>
          </p:cNvPr>
          <p:cNvSpPr>
            <a:spLocks noGrp="1"/>
          </p:cNvSpPr>
          <p:nvPr/>
        </p:nvSpPr>
        <p:spPr>
          <a:xfrm>
            <a:off x="381000" y="6438900"/>
            <a:ext cx="523875" cy="209550"/>
          </a:xfrm>
          <a:prstGeom prst="rect">
            <a:avLst/>
          </a:prstGeom>
          <a:noFill/>
          <a:ln w="0">
            <a:noFill/>
          </a:ln>
        </p:spPr>
        <p:txBody>
          <a:bodyPr lIns="0" tIns="0" rIns="0" bIns="0" anchor="ctr">
            <a:noAutofit/>
          </a:bodyPr>
          <a:lstStyle>
            <a:defPPr rtl="1" algn="r">
              <a:defRPr lang="he-IL"/>
            </a:defPPr>
          </a:lstStyle>
          <a:p>
            <a:pPr algn="r" rtl="0">
              <a:defRPr sz="1125" b="0" lang="en-US">
                <a:solidFill>
                  <a:srgbClr val="556354"/>
                </a:solidFill>
                <a:latin typeface="Arial"/>
                <a:ea typeface="Arial"/>
                <a:cs typeface="Arial"/>
              </a:defRPr>
            </a:pPr>
            <a:r>
              <a:rPr sz="1125" b="0" lang="en-US">
                <a:solidFill>
                  <a:srgbClr val="556354"/>
                </a:solidFill>
                <a:latin typeface="Arial"/>
                <a:ea typeface="Arial"/>
                <a:cs typeface="Arial"/>
              </a:rPr>
              <a:t xml:space="preserve">09</a:t>
            </a:r>
          </a:p>
        </p:txBody>
      </p:sp>
    </p:spTree>
    <p:extLst>
      <p:ext uri="{BB962C8B-B14F-4D97-AF65-F5344CB8AC3E}">
        <p14:creationId xmlns:p14="http://schemas.microsoft.com/office/powerpoint/2010/main" val="5329603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2026-09-28T15:56:21.9670000Z</dcterms:created>
  <dcterms:modified xsi:type="dcterms:W3CDTF">2026-09-28T15:56:21.9670000Z</dcterms:modified>
</coreProperties>
</file>